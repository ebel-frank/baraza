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5"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8" d="100"/>
          <a:sy n="88" d="100"/>
        </p:scale>
        <p:origin x="466"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961120" y="-2011680"/>
            <a:ext cx="5486400" cy="5486400"/>
          </a:xfrm>
          <a:prstGeom prst="ellipse">
            <a:avLst/>
          </a:prstGeom>
          <a:solidFill>
            <a:srgbClr val="F1E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377440" y="3840480"/>
            <a:ext cx="5943600" cy="5943600"/>
          </a:xfrm>
          <a:prstGeom prst="ellipse">
            <a:avLst/>
          </a:prstGeom>
          <a:solidFill>
            <a:srgbClr val="E3E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1463040"/>
            <a:ext cx="9144000" cy="1463040"/>
          </a:xfrm>
          <a:prstGeom prst="rect">
            <a:avLst/>
          </a:prstGeom>
          <a:noFill/>
        </p:spPr>
        <p:txBody>
          <a:bodyPr wrap="square" lIns="0" tIns="0" rIns="0" bIns="0" anchor="t">
            <a:spAutoFit/>
          </a:bodyPr>
          <a:lstStyle/>
          <a:p>
            <a:pPr algn="l">
              <a:lnSpc>
                <a:spcPct val="115000"/>
              </a:lnSpc>
            </a:pPr>
            <a:r>
              <a:rPr sz="8000" b="0" i="0" dirty="0">
                <a:solidFill>
                  <a:srgbClr val="1E2A4A"/>
                </a:solidFill>
                <a:latin typeface="Georgia"/>
              </a:rPr>
              <a:t>Baraza</a:t>
            </a:r>
          </a:p>
        </p:txBody>
      </p:sp>
      <p:sp>
        <p:nvSpPr>
          <p:cNvPr id="7" name="TextBox 6"/>
          <p:cNvSpPr txBox="1"/>
          <p:nvPr/>
        </p:nvSpPr>
        <p:spPr>
          <a:xfrm>
            <a:off x="640080" y="2880360"/>
            <a:ext cx="7955279" cy="968214"/>
          </a:xfrm>
          <a:prstGeom prst="rect">
            <a:avLst/>
          </a:prstGeom>
          <a:noFill/>
        </p:spPr>
        <p:txBody>
          <a:bodyPr wrap="square" lIns="0" tIns="0" rIns="0" bIns="0" anchor="t">
            <a:spAutoFit/>
          </a:bodyPr>
          <a:lstStyle/>
          <a:p>
            <a:pPr algn="l">
              <a:lnSpc>
                <a:spcPct val="135000"/>
              </a:lnSpc>
            </a:pPr>
            <a:r>
              <a:rPr sz="1600" b="0" i="0" dirty="0">
                <a:solidFill>
                  <a:srgbClr val="5C665E"/>
                </a:solidFill>
                <a:latin typeface="Calibri"/>
              </a:rPr>
              <a:t>A shared record for </a:t>
            </a:r>
            <a:r>
              <a:rPr lang="en-US" sz="1600" b="0" i="0" dirty="0">
                <a:solidFill>
                  <a:srgbClr val="5C665E"/>
                </a:solidFill>
                <a:latin typeface="Calibri"/>
              </a:rPr>
              <a:t>Nigeria’s</a:t>
            </a:r>
            <a:r>
              <a:rPr sz="1600" b="0" i="0" dirty="0">
                <a:solidFill>
                  <a:srgbClr val="5C665E"/>
                </a:solidFill>
                <a:latin typeface="Calibri"/>
              </a:rPr>
              <a:t> justice system. </a:t>
            </a:r>
            <a:r>
              <a:rPr lang="en-US" sz="1600" b="0" i="0" dirty="0">
                <a:solidFill>
                  <a:srgbClr val="5C665E"/>
                </a:solidFill>
                <a:latin typeface="Calibri"/>
              </a:rPr>
              <a:t>Baraza </a:t>
            </a:r>
            <a:r>
              <a:rPr lang="en-US" sz="1600" dirty="0">
                <a:solidFill>
                  <a:srgbClr val="5C665E"/>
                </a:solidFill>
                <a:latin typeface="Calibri"/>
              </a:rPr>
              <a:t>is a</a:t>
            </a:r>
            <a:r>
              <a:rPr lang="en-US" sz="1600" b="0" i="0" dirty="0">
                <a:solidFill>
                  <a:srgbClr val="5C665E"/>
                </a:solidFill>
                <a:latin typeface="Calibri"/>
              </a:rPr>
              <a:t>n offline-first toolkit that gives Nigeria’s community mediators a case log, cited legal guidance, and a referral safety net, and gives the institutions that oversee them a live view of where disputes are happening.</a:t>
            </a:r>
          </a:p>
        </p:txBody>
      </p:sp>
      <p:sp>
        <p:nvSpPr>
          <p:cNvPr id="8" name="Rounded Rectangle 7"/>
          <p:cNvSpPr/>
          <p:nvPr/>
        </p:nvSpPr>
        <p:spPr>
          <a:xfrm>
            <a:off x="640080" y="4297680"/>
            <a:ext cx="2322576" cy="384048"/>
          </a:xfrm>
          <a:prstGeom prst="roundRect">
            <a:avLst>
              <a:gd name="adj" fmla="val 50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50" b="0">
                <a:solidFill>
                  <a:srgbClr val="1A221D"/>
                </a:solidFill>
                <a:latin typeface="Calibri"/>
              </a:rPr>
              <a:t>Offline-first · mobile</a:t>
            </a:r>
          </a:p>
        </p:txBody>
      </p:sp>
      <p:sp>
        <p:nvSpPr>
          <p:cNvPr id="9" name="Rounded Rectangle 8"/>
          <p:cNvSpPr/>
          <p:nvPr/>
        </p:nvSpPr>
        <p:spPr>
          <a:xfrm>
            <a:off x="3127248" y="4297680"/>
            <a:ext cx="2322576" cy="384048"/>
          </a:xfrm>
          <a:prstGeom prst="roundRect">
            <a:avLst>
              <a:gd name="adj" fmla="val 50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50" b="0" dirty="0">
                <a:solidFill>
                  <a:srgbClr val="1A221D"/>
                </a:solidFill>
                <a:latin typeface="Calibri"/>
              </a:rPr>
              <a:t>Cited AI guidance</a:t>
            </a:r>
          </a:p>
        </p:txBody>
      </p:sp>
      <p:sp>
        <p:nvSpPr>
          <p:cNvPr id="10" name="Rounded Rectangle 9"/>
          <p:cNvSpPr/>
          <p:nvPr/>
        </p:nvSpPr>
        <p:spPr>
          <a:xfrm>
            <a:off x="5614416" y="4297680"/>
            <a:ext cx="2002536" cy="384048"/>
          </a:xfrm>
          <a:prstGeom prst="roundRect">
            <a:avLst>
              <a:gd name="adj" fmla="val 50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50" b="0">
                <a:solidFill>
                  <a:srgbClr val="1A221D"/>
                </a:solidFill>
                <a:latin typeface="Calibri"/>
              </a:rPr>
              <a:t>Built for Nigeria</a:t>
            </a:r>
          </a:p>
        </p:txBody>
      </p:sp>
      <p:sp>
        <p:nvSpPr>
          <p:cNvPr id="11" name="TextBox 10"/>
          <p:cNvSpPr txBox="1"/>
          <p:nvPr/>
        </p:nvSpPr>
        <p:spPr>
          <a:xfrm>
            <a:off x="11475720" y="6510528"/>
            <a:ext cx="548640" cy="274320"/>
          </a:xfrm>
          <a:prstGeom prst="rect">
            <a:avLst/>
          </a:prstGeom>
          <a:noFill/>
        </p:spPr>
        <p:txBody>
          <a:bodyPr wrap="square" lIns="0" tIns="0" rIns="0" bIns="0" anchor="t">
            <a:spAutoFit/>
          </a:bodyPr>
          <a:lstStyle/>
          <a:p>
            <a:pPr algn="r">
              <a:lnSpc>
                <a:spcPct val="115000"/>
              </a:lnSpc>
            </a:pPr>
            <a:r>
              <a:rPr sz="900" b="0" i="0">
                <a:solidFill>
                  <a:srgbClr val="5C665E"/>
                </a:solidFill>
                <a:latin typeface="Calibri"/>
              </a:rPr>
              <a:t>01/10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8229600" cy="220701"/>
          </a:xfrm>
          <a:prstGeom prst="rect">
            <a:avLst/>
          </a:prstGeom>
          <a:noFill/>
        </p:spPr>
        <p:txBody>
          <a:bodyPr wrap="square" lIns="0" tIns="0" rIns="0" bIns="0" anchor="t">
            <a:spAutoFit/>
          </a:bodyPr>
          <a:lstStyle/>
          <a:p>
            <a:pPr algn="l">
              <a:lnSpc>
                <a:spcPct val="130000"/>
              </a:lnSpc>
            </a:pPr>
            <a:r>
              <a:rPr sz="1200" b="1" dirty="0">
                <a:solidFill>
                  <a:srgbClr val="B1791F"/>
                </a:solidFill>
                <a:latin typeface="Calibri"/>
              </a:rPr>
              <a:t>THE PROBLEM</a:t>
            </a:r>
          </a:p>
        </p:txBody>
      </p:sp>
      <p:sp>
        <p:nvSpPr>
          <p:cNvPr id="4" name="TextBox 3"/>
          <p:cNvSpPr txBox="1"/>
          <p:nvPr/>
        </p:nvSpPr>
        <p:spPr>
          <a:xfrm>
            <a:off x="640080" y="868680"/>
            <a:ext cx="10789920" cy="1005840"/>
          </a:xfrm>
          <a:prstGeom prst="rect">
            <a:avLst/>
          </a:prstGeom>
          <a:noFill/>
        </p:spPr>
        <p:txBody>
          <a:bodyPr wrap="square" lIns="0" tIns="0" rIns="0" bIns="0" anchor="t">
            <a:spAutoFit/>
          </a:bodyPr>
          <a:lstStyle/>
          <a:p>
            <a:pPr algn="l">
              <a:lnSpc>
                <a:spcPct val="105000"/>
              </a:lnSpc>
            </a:pPr>
            <a:r>
              <a:rPr sz="3000" b="0" i="0">
                <a:solidFill>
                  <a:srgbClr val="1A221D"/>
                </a:solidFill>
                <a:latin typeface="Georgia"/>
              </a:rPr>
              <a:t>Most disputes never reach a courtroom.</a:t>
            </a:r>
          </a:p>
        </p:txBody>
      </p:sp>
      <p:sp>
        <p:nvSpPr>
          <p:cNvPr id="5" name="TextBox 4"/>
          <p:cNvSpPr txBox="1"/>
          <p:nvPr/>
        </p:nvSpPr>
        <p:spPr>
          <a:xfrm>
            <a:off x="640080" y="1600200"/>
            <a:ext cx="10607040" cy="576312"/>
          </a:xfrm>
          <a:prstGeom prst="rect">
            <a:avLst/>
          </a:prstGeom>
          <a:noFill/>
        </p:spPr>
        <p:txBody>
          <a:bodyPr wrap="square" lIns="0" tIns="0" rIns="0" bIns="0" anchor="t">
            <a:spAutoFit/>
          </a:bodyPr>
          <a:lstStyle/>
          <a:p>
            <a:pPr algn="l">
              <a:lnSpc>
                <a:spcPct val="135000"/>
              </a:lnSpc>
            </a:pPr>
            <a:r>
              <a:rPr sz="1450" b="0" i="0" dirty="0">
                <a:solidFill>
                  <a:srgbClr val="5C665E"/>
                </a:solidFill>
                <a:latin typeface="Calibri"/>
              </a:rPr>
              <a:t>In Nigeria, everyday disputes, land boundaries, family and inheritance matters, neighbor conflicts, are resolved informally by chiefs, elders, and community mediators long before they would ever reach a court. Formal courts are often costly, and physically distant.</a:t>
            </a:r>
          </a:p>
        </p:txBody>
      </p:sp>
      <p:sp>
        <p:nvSpPr>
          <p:cNvPr id="6" name="Rounded Rectangle 5"/>
          <p:cNvSpPr/>
          <p:nvPr/>
        </p:nvSpPr>
        <p:spPr>
          <a:xfrm>
            <a:off x="640080" y="2697479"/>
            <a:ext cx="3017520" cy="1439091"/>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2816352"/>
            <a:ext cx="3017520" cy="502920"/>
          </a:xfrm>
          <a:prstGeom prst="rect">
            <a:avLst/>
          </a:prstGeom>
          <a:noFill/>
        </p:spPr>
        <p:txBody>
          <a:bodyPr wrap="square" lIns="0" tIns="0" rIns="0" bIns="0" anchor="t">
            <a:spAutoFit/>
          </a:bodyPr>
          <a:lstStyle/>
          <a:p>
            <a:pPr algn="l">
              <a:lnSpc>
                <a:spcPct val="115000"/>
              </a:lnSpc>
            </a:pPr>
            <a:r>
              <a:rPr sz="3000" b="0" i="0">
                <a:solidFill>
                  <a:srgbClr val="1E2A4A"/>
                </a:solidFill>
                <a:latin typeface="Georgia"/>
              </a:rPr>
              <a:t>1,900+</a:t>
            </a:r>
          </a:p>
        </p:txBody>
      </p:sp>
      <p:sp>
        <p:nvSpPr>
          <p:cNvPr id="8" name="TextBox 7"/>
          <p:cNvSpPr txBox="1"/>
          <p:nvPr/>
        </p:nvSpPr>
        <p:spPr>
          <a:xfrm>
            <a:off x="841248" y="3310128"/>
            <a:ext cx="2259003" cy="590996"/>
          </a:xfrm>
          <a:prstGeom prst="rect">
            <a:avLst/>
          </a:prstGeom>
          <a:noFill/>
        </p:spPr>
        <p:txBody>
          <a:bodyPr wrap="square" lIns="0" tIns="0" rIns="0" bIns="0" anchor="t">
            <a:spAutoFit/>
          </a:bodyPr>
          <a:lstStyle/>
          <a:p>
            <a:pPr algn="l">
              <a:lnSpc>
                <a:spcPct val="125000"/>
              </a:lnSpc>
            </a:pPr>
            <a:r>
              <a:rPr sz="1050" b="0" i="0">
                <a:solidFill>
                  <a:srgbClr val="5C665E"/>
                </a:solidFill>
                <a:latin typeface="Calibri"/>
              </a:rPr>
              <a:t>disputes resolved by Community Initiatives to Promote Peace (CIPP) over five years</a:t>
            </a:r>
          </a:p>
        </p:txBody>
      </p:sp>
      <p:sp>
        <p:nvSpPr>
          <p:cNvPr id="9" name="Rounded Rectangle 8"/>
          <p:cNvSpPr/>
          <p:nvPr/>
        </p:nvSpPr>
        <p:spPr>
          <a:xfrm>
            <a:off x="4251960" y="2697480"/>
            <a:ext cx="3017520" cy="143909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453128" y="2816352"/>
            <a:ext cx="3017520" cy="502920"/>
          </a:xfrm>
          <a:prstGeom prst="rect">
            <a:avLst/>
          </a:prstGeom>
          <a:noFill/>
        </p:spPr>
        <p:txBody>
          <a:bodyPr wrap="square" lIns="0" tIns="0" rIns="0" bIns="0" anchor="t">
            <a:spAutoFit/>
          </a:bodyPr>
          <a:lstStyle/>
          <a:p>
            <a:pPr algn="l">
              <a:lnSpc>
                <a:spcPct val="115000"/>
              </a:lnSpc>
            </a:pPr>
            <a:r>
              <a:rPr sz="3000" b="0" i="0">
                <a:solidFill>
                  <a:srgbClr val="1E2A4A"/>
                </a:solidFill>
                <a:latin typeface="Georgia"/>
              </a:rPr>
              <a:t>6</a:t>
            </a:r>
          </a:p>
        </p:txBody>
      </p:sp>
      <p:sp>
        <p:nvSpPr>
          <p:cNvPr id="11" name="TextBox 10"/>
          <p:cNvSpPr txBox="1"/>
          <p:nvPr/>
        </p:nvSpPr>
        <p:spPr>
          <a:xfrm>
            <a:off x="4453128" y="3310128"/>
            <a:ext cx="2383101" cy="389017"/>
          </a:xfrm>
          <a:prstGeom prst="rect">
            <a:avLst/>
          </a:prstGeom>
          <a:noFill/>
        </p:spPr>
        <p:txBody>
          <a:bodyPr wrap="square" lIns="0" tIns="0" rIns="0" bIns="0" anchor="t">
            <a:spAutoFit/>
          </a:bodyPr>
          <a:lstStyle/>
          <a:p>
            <a:pPr algn="l">
              <a:lnSpc>
                <a:spcPct val="125000"/>
              </a:lnSpc>
            </a:pPr>
            <a:r>
              <a:rPr sz="1050" b="0" i="0">
                <a:solidFill>
                  <a:srgbClr val="5C665E"/>
                </a:solidFill>
                <a:latin typeface="Calibri"/>
              </a:rPr>
              <a:t>northern states covered by that program alone</a:t>
            </a:r>
          </a:p>
        </p:txBody>
      </p:sp>
      <p:sp>
        <p:nvSpPr>
          <p:cNvPr id="12" name="Rounded Rectangle 11"/>
          <p:cNvSpPr/>
          <p:nvPr/>
        </p:nvSpPr>
        <p:spPr>
          <a:xfrm>
            <a:off x="7863840" y="2697480"/>
            <a:ext cx="3017520" cy="143909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65008" y="2816352"/>
            <a:ext cx="3017520" cy="502920"/>
          </a:xfrm>
          <a:prstGeom prst="rect">
            <a:avLst/>
          </a:prstGeom>
          <a:noFill/>
        </p:spPr>
        <p:txBody>
          <a:bodyPr wrap="square" lIns="0" tIns="0" rIns="0" bIns="0" anchor="t">
            <a:spAutoFit/>
          </a:bodyPr>
          <a:lstStyle/>
          <a:p>
            <a:pPr algn="l">
              <a:lnSpc>
                <a:spcPct val="115000"/>
              </a:lnSpc>
            </a:pPr>
            <a:r>
              <a:rPr sz="3000" b="0" i="0">
                <a:solidFill>
                  <a:srgbClr val="1E2A4A"/>
                </a:solidFill>
                <a:latin typeface="Georgia"/>
              </a:rPr>
              <a:t>0</a:t>
            </a:r>
          </a:p>
        </p:txBody>
      </p:sp>
      <p:sp>
        <p:nvSpPr>
          <p:cNvPr id="14" name="TextBox 13"/>
          <p:cNvSpPr txBox="1"/>
          <p:nvPr/>
        </p:nvSpPr>
        <p:spPr>
          <a:xfrm>
            <a:off x="8065008" y="3310128"/>
            <a:ext cx="2524615" cy="187039"/>
          </a:xfrm>
          <a:prstGeom prst="rect">
            <a:avLst/>
          </a:prstGeom>
          <a:noFill/>
        </p:spPr>
        <p:txBody>
          <a:bodyPr wrap="square" lIns="0" tIns="0" rIns="0" bIns="0" anchor="t">
            <a:spAutoFit/>
          </a:bodyPr>
          <a:lstStyle/>
          <a:p>
            <a:pPr algn="l">
              <a:lnSpc>
                <a:spcPct val="125000"/>
              </a:lnSpc>
            </a:pPr>
            <a:r>
              <a:rPr sz="1050" b="0" i="0" dirty="0">
                <a:solidFill>
                  <a:srgbClr val="5C665E"/>
                </a:solidFill>
                <a:latin typeface="Calibri"/>
              </a:rPr>
              <a:t>shared digital record behind any of it</a:t>
            </a:r>
          </a:p>
        </p:txBody>
      </p:sp>
      <p:sp>
        <p:nvSpPr>
          <p:cNvPr id="15" name="TextBox 14"/>
          <p:cNvSpPr txBox="1"/>
          <p:nvPr/>
        </p:nvSpPr>
        <p:spPr>
          <a:xfrm>
            <a:off x="640081" y="4574176"/>
            <a:ext cx="3428999" cy="1532984"/>
          </a:xfrm>
          <a:prstGeom prst="rect">
            <a:avLst/>
          </a:prstGeom>
          <a:noFill/>
        </p:spPr>
        <p:txBody>
          <a:bodyPr wrap="square" lIns="0" tIns="0" rIns="0" bIns="0" anchor="t">
            <a:spAutoFit/>
          </a:bodyPr>
          <a:lstStyle/>
          <a:p>
            <a:pPr algn="l">
              <a:lnSpc>
                <a:spcPct val="140000"/>
              </a:lnSpc>
            </a:pPr>
            <a:r>
              <a:rPr sz="1450" b="0" i="0" dirty="0">
                <a:solidFill>
                  <a:srgbClr val="1A221D"/>
                </a:solidFill>
                <a:latin typeface="Calibri"/>
              </a:rPr>
              <a:t>The process is manual and paper-based. A mediator relies on memory to recall how a similar case was handled before deciding how to act. Once a case closes, that knowledge is gone.</a:t>
            </a:r>
          </a:p>
        </p:txBody>
      </p:sp>
      <p:sp>
        <p:nvSpPr>
          <p:cNvPr id="22" name="TextBox 21"/>
          <p:cNvSpPr txBox="1"/>
          <p:nvPr/>
        </p:nvSpPr>
        <p:spPr>
          <a:xfrm>
            <a:off x="11475720" y="6510528"/>
            <a:ext cx="548640" cy="274320"/>
          </a:xfrm>
          <a:prstGeom prst="rect">
            <a:avLst/>
          </a:prstGeom>
          <a:noFill/>
        </p:spPr>
        <p:txBody>
          <a:bodyPr wrap="square" lIns="0" tIns="0" rIns="0" bIns="0" anchor="t">
            <a:spAutoFit/>
          </a:bodyPr>
          <a:lstStyle/>
          <a:p>
            <a:pPr algn="r">
              <a:lnSpc>
                <a:spcPct val="115000"/>
              </a:lnSpc>
            </a:pPr>
            <a:r>
              <a:rPr sz="900" b="0" i="0">
                <a:solidFill>
                  <a:srgbClr val="5C665E"/>
                </a:solidFill>
                <a:latin typeface="Calibri"/>
              </a:rPr>
              <a:t>02/10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8229600" cy="220701"/>
          </a:xfrm>
          <a:prstGeom prst="rect">
            <a:avLst/>
          </a:prstGeom>
          <a:noFill/>
        </p:spPr>
        <p:txBody>
          <a:bodyPr wrap="square" lIns="0" tIns="0" rIns="0" bIns="0" anchor="t">
            <a:spAutoFit/>
          </a:bodyPr>
          <a:lstStyle/>
          <a:p>
            <a:pPr algn="l">
              <a:lnSpc>
                <a:spcPct val="130000"/>
              </a:lnSpc>
            </a:pPr>
            <a:r>
              <a:rPr lang="en-US" sz="1200" b="1" dirty="0">
                <a:solidFill>
                  <a:srgbClr val="B1791F"/>
                </a:solidFill>
                <a:latin typeface="Calibri"/>
              </a:rPr>
              <a:t>MY</a:t>
            </a:r>
            <a:r>
              <a:rPr sz="1200" b="1" dirty="0">
                <a:solidFill>
                  <a:srgbClr val="B1791F"/>
                </a:solidFill>
                <a:latin typeface="Calibri"/>
              </a:rPr>
              <a:t> SOLUTION</a:t>
            </a:r>
          </a:p>
        </p:txBody>
      </p:sp>
      <p:sp>
        <p:nvSpPr>
          <p:cNvPr id="4" name="TextBox 3"/>
          <p:cNvSpPr txBox="1"/>
          <p:nvPr/>
        </p:nvSpPr>
        <p:spPr>
          <a:xfrm>
            <a:off x="640080" y="868680"/>
            <a:ext cx="10789920" cy="1005840"/>
          </a:xfrm>
          <a:prstGeom prst="rect">
            <a:avLst/>
          </a:prstGeom>
          <a:noFill/>
        </p:spPr>
        <p:txBody>
          <a:bodyPr wrap="square" lIns="0" tIns="0" rIns="0" bIns="0" anchor="t">
            <a:spAutoFit/>
          </a:bodyPr>
          <a:lstStyle/>
          <a:p>
            <a:pPr algn="l">
              <a:lnSpc>
                <a:spcPct val="105000"/>
              </a:lnSpc>
            </a:pPr>
            <a:r>
              <a:rPr sz="3000" b="0" i="0" dirty="0">
                <a:solidFill>
                  <a:srgbClr val="1A221D"/>
                </a:solidFill>
                <a:latin typeface="Georgia"/>
              </a:rPr>
              <a:t>Built for the mediator, not around them.</a:t>
            </a:r>
          </a:p>
        </p:txBody>
      </p:sp>
      <p:sp>
        <p:nvSpPr>
          <p:cNvPr id="5" name="TextBox 4"/>
          <p:cNvSpPr txBox="1"/>
          <p:nvPr/>
        </p:nvSpPr>
        <p:spPr>
          <a:xfrm>
            <a:off x="640080" y="1600200"/>
            <a:ext cx="9601200" cy="548640"/>
          </a:xfrm>
          <a:prstGeom prst="rect">
            <a:avLst/>
          </a:prstGeom>
          <a:noFill/>
        </p:spPr>
        <p:txBody>
          <a:bodyPr wrap="square" lIns="0" tIns="0" rIns="0" bIns="0" anchor="t">
            <a:spAutoFit/>
          </a:bodyPr>
          <a:lstStyle/>
          <a:p>
            <a:pPr algn="l">
              <a:lnSpc>
                <a:spcPct val="135000"/>
              </a:lnSpc>
            </a:pPr>
            <a:r>
              <a:rPr sz="1450" b="0" i="0">
                <a:solidFill>
                  <a:srgbClr val="5C665E"/>
                </a:solidFill>
                <a:latin typeface="Calibri"/>
              </a:rPr>
              <a:t>Baraza is an offline-first toolkit with three parts. Nothing about it asks the mediator to change how they already work.</a:t>
            </a:r>
          </a:p>
        </p:txBody>
      </p:sp>
      <p:sp>
        <p:nvSpPr>
          <p:cNvPr id="6" name="Rounded Rectangle 5"/>
          <p:cNvSpPr/>
          <p:nvPr/>
        </p:nvSpPr>
        <p:spPr>
          <a:xfrm>
            <a:off x="640080" y="2423160"/>
            <a:ext cx="3520440" cy="320040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96112" y="2697480"/>
            <a:ext cx="502920" cy="502920"/>
          </a:xfrm>
          <a:prstGeom prst="roundRect">
            <a:avLst>
              <a:gd name="adj" fmla="val 30000"/>
            </a:avLst>
          </a:prstGeom>
          <a:solidFill>
            <a:srgbClr val="F1E3C7"/>
          </a:solidFill>
          <a:ln>
            <a:no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300" b="1">
                <a:solidFill>
                  <a:srgbClr val="B1791F"/>
                </a:solidFill>
                <a:latin typeface="Georgia"/>
              </a:rPr>
              <a:t>01</a:t>
            </a:r>
          </a:p>
        </p:txBody>
      </p:sp>
      <p:sp>
        <p:nvSpPr>
          <p:cNvPr id="8" name="TextBox 7"/>
          <p:cNvSpPr txBox="1"/>
          <p:nvPr/>
        </p:nvSpPr>
        <p:spPr>
          <a:xfrm>
            <a:off x="896112" y="3429000"/>
            <a:ext cx="3008376" cy="411480"/>
          </a:xfrm>
          <a:prstGeom prst="rect">
            <a:avLst/>
          </a:prstGeom>
          <a:noFill/>
        </p:spPr>
        <p:txBody>
          <a:bodyPr wrap="square" lIns="0" tIns="0" rIns="0" bIns="0" anchor="t">
            <a:spAutoFit/>
          </a:bodyPr>
          <a:lstStyle/>
          <a:p>
            <a:pPr algn="l">
              <a:lnSpc>
                <a:spcPct val="115000"/>
              </a:lnSpc>
            </a:pPr>
            <a:r>
              <a:rPr sz="1800" b="0" i="0">
                <a:solidFill>
                  <a:srgbClr val="1A221D"/>
                </a:solidFill>
                <a:latin typeface="Georgia"/>
              </a:rPr>
              <a:t>Case log</a:t>
            </a:r>
          </a:p>
        </p:txBody>
      </p:sp>
      <p:sp>
        <p:nvSpPr>
          <p:cNvPr id="9" name="TextBox 8"/>
          <p:cNvSpPr txBox="1"/>
          <p:nvPr/>
        </p:nvSpPr>
        <p:spPr>
          <a:xfrm>
            <a:off x="896112" y="3931920"/>
            <a:ext cx="3008376" cy="1554480"/>
          </a:xfrm>
          <a:prstGeom prst="rect">
            <a:avLst/>
          </a:prstGeom>
          <a:noFill/>
        </p:spPr>
        <p:txBody>
          <a:bodyPr wrap="square" lIns="0" tIns="0" rIns="0" bIns="0" anchor="t">
            <a:spAutoFit/>
          </a:bodyPr>
          <a:lstStyle/>
          <a:p>
            <a:pPr algn="l">
              <a:lnSpc>
                <a:spcPct val="135000"/>
              </a:lnSpc>
            </a:pPr>
            <a:r>
              <a:rPr sz="1200" b="0" i="0">
                <a:solidFill>
                  <a:srgbClr val="5C665E"/>
                </a:solidFill>
                <a:latin typeface="Calibri"/>
              </a:rPr>
              <a:t>Log a case in the field, including by voice. Saves fully offline in under a minute and syncs automatically once connectivity returns.</a:t>
            </a:r>
          </a:p>
        </p:txBody>
      </p:sp>
      <p:sp>
        <p:nvSpPr>
          <p:cNvPr id="10" name="Rounded Rectangle 9"/>
          <p:cNvSpPr/>
          <p:nvPr/>
        </p:nvSpPr>
        <p:spPr>
          <a:xfrm>
            <a:off x="4389120" y="2423160"/>
            <a:ext cx="3520440" cy="320040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4645152" y="2697480"/>
            <a:ext cx="502920" cy="502920"/>
          </a:xfrm>
          <a:prstGeom prst="roundRect">
            <a:avLst>
              <a:gd name="adj" fmla="val 30000"/>
            </a:avLst>
          </a:prstGeom>
          <a:solidFill>
            <a:srgbClr val="F1E3C7"/>
          </a:solidFill>
          <a:ln>
            <a:no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300" b="1">
                <a:solidFill>
                  <a:srgbClr val="B1791F"/>
                </a:solidFill>
                <a:latin typeface="Georgia"/>
              </a:rPr>
              <a:t>02</a:t>
            </a:r>
          </a:p>
        </p:txBody>
      </p:sp>
      <p:sp>
        <p:nvSpPr>
          <p:cNvPr id="12" name="TextBox 11"/>
          <p:cNvSpPr txBox="1"/>
          <p:nvPr/>
        </p:nvSpPr>
        <p:spPr>
          <a:xfrm>
            <a:off x="4645152" y="3429000"/>
            <a:ext cx="3008376" cy="411480"/>
          </a:xfrm>
          <a:prstGeom prst="rect">
            <a:avLst/>
          </a:prstGeom>
          <a:noFill/>
        </p:spPr>
        <p:txBody>
          <a:bodyPr wrap="square" lIns="0" tIns="0" rIns="0" bIns="0" anchor="t">
            <a:spAutoFit/>
          </a:bodyPr>
          <a:lstStyle/>
          <a:p>
            <a:pPr algn="l">
              <a:lnSpc>
                <a:spcPct val="115000"/>
              </a:lnSpc>
            </a:pPr>
            <a:r>
              <a:rPr sz="1800" b="0" i="0">
                <a:solidFill>
                  <a:srgbClr val="1A221D"/>
                </a:solidFill>
                <a:latin typeface="Georgia"/>
              </a:rPr>
              <a:t>Advisory lookup</a:t>
            </a:r>
          </a:p>
        </p:txBody>
      </p:sp>
      <p:sp>
        <p:nvSpPr>
          <p:cNvPr id="13" name="TextBox 12"/>
          <p:cNvSpPr txBox="1"/>
          <p:nvPr/>
        </p:nvSpPr>
        <p:spPr>
          <a:xfrm>
            <a:off x="4645152" y="3931920"/>
            <a:ext cx="3008376" cy="1554480"/>
          </a:xfrm>
          <a:prstGeom prst="rect">
            <a:avLst/>
          </a:prstGeom>
          <a:noFill/>
        </p:spPr>
        <p:txBody>
          <a:bodyPr wrap="square" lIns="0" tIns="0" rIns="0" bIns="0" anchor="t">
            <a:spAutoFit/>
          </a:bodyPr>
          <a:lstStyle/>
          <a:p>
            <a:pPr algn="l">
              <a:lnSpc>
                <a:spcPct val="135000"/>
              </a:lnSpc>
            </a:pPr>
            <a:r>
              <a:rPr sz="1200" b="0" i="0">
                <a:solidFill>
                  <a:srgbClr val="5C665E"/>
                </a:solidFill>
                <a:latin typeface="Calibri"/>
              </a:rPr>
              <a:t>Surfaces relevant statutes and ADR guidance for a case, always with a citation to its source. A suggestion, never a ruling.</a:t>
            </a:r>
          </a:p>
        </p:txBody>
      </p:sp>
      <p:sp>
        <p:nvSpPr>
          <p:cNvPr id="14" name="Rounded Rectangle 13"/>
          <p:cNvSpPr/>
          <p:nvPr/>
        </p:nvSpPr>
        <p:spPr>
          <a:xfrm>
            <a:off x="8138160" y="2423160"/>
            <a:ext cx="3520440" cy="320040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8394192" y="2697480"/>
            <a:ext cx="502920" cy="502920"/>
          </a:xfrm>
          <a:prstGeom prst="roundRect">
            <a:avLst>
              <a:gd name="adj" fmla="val 30000"/>
            </a:avLst>
          </a:prstGeom>
          <a:solidFill>
            <a:srgbClr val="F1E3C7"/>
          </a:solidFill>
          <a:ln>
            <a:noFill/>
          </a:ln>
          <a:effectLst/>
        </p:spPr>
        <p:style>
          <a:lnRef idx="1">
            <a:schemeClr val="accent1"/>
          </a:lnRef>
          <a:fillRef idx="3">
            <a:schemeClr val="accent1"/>
          </a:fillRef>
          <a:effectRef idx="2">
            <a:schemeClr val="accent1"/>
          </a:effectRef>
          <a:fontRef idx="minor">
            <a:schemeClr val="lt1"/>
          </a:fontRef>
        </p:style>
        <p:txBody>
          <a:bodyPr lIns="0" tIns="0" rtlCol="0" anchor="ctr"/>
          <a:lstStyle/>
          <a:p>
            <a:pPr algn="ctr"/>
            <a:r>
              <a:rPr sz="1300" b="1">
                <a:solidFill>
                  <a:srgbClr val="B1791F"/>
                </a:solidFill>
                <a:latin typeface="Georgia"/>
              </a:rPr>
              <a:t>03</a:t>
            </a:r>
          </a:p>
        </p:txBody>
      </p:sp>
      <p:sp>
        <p:nvSpPr>
          <p:cNvPr id="16" name="TextBox 15"/>
          <p:cNvSpPr txBox="1"/>
          <p:nvPr/>
        </p:nvSpPr>
        <p:spPr>
          <a:xfrm>
            <a:off x="8394192" y="3429000"/>
            <a:ext cx="3008376" cy="411480"/>
          </a:xfrm>
          <a:prstGeom prst="rect">
            <a:avLst/>
          </a:prstGeom>
          <a:noFill/>
        </p:spPr>
        <p:txBody>
          <a:bodyPr wrap="square" lIns="0" tIns="0" rIns="0" bIns="0" anchor="t">
            <a:spAutoFit/>
          </a:bodyPr>
          <a:lstStyle/>
          <a:p>
            <a:pPr algn="l">
              <a:lnSpc>
                <a:spcPct val="115000"/>
              </a:lnSpc>
            </a:pPr>
            <a:r>
              <a:rPr sz="1800" b="0" i="0">
                <a:solidFill>
                  <a:srgbClr val="1A221D"/>
                </a:solidFill>
                <a:latin typeface="Georgia"/>
              </a:rPr>
              <a:t>Referral prompt</a:t>
            </a:r>
          </a:p>
        </p:txBody>
      </p:sp>
      <p:sp>
        <p:nvSpPr>
          <p:cNvPr id="17" name="TextBox 16"/>
          <p:cNvSpPr txBox="1"/>
          <p:nvPr/>
        </p:nvSpPr>
        <p:spPr>
          <a:xfrm>
            <a:off x="8394192" y="3931920"/>
            <a:ext cx="3008376" cy="1554480"/>
          </a:xfrm>
          <a:prstGeom prst="rect">
            <a:avLst/>
          </a:prstGeom>
          <a:noFill/>
        </p:spPr>
        <p:txBody>
          <a:bodyPr wrap="square" lIns="0" tIns="0" rIns="0" bIns="0" anchor="t">
            <a:spAutoFit/>
          </a:bodyPr>
          <a:lstStyle/>
          <a:p>
            <a:pPr algn="l">
              <a:lnSpc>
                <a:spcPct val="135000"/>
              </a:lnSpc>
            </a:pPr>
            <a:r>
              <a:rPr sz="1200" b="0" i="0">
                <a:solidFill>
                  <a:srgbClr val="5C665E"/>
                </a:solidFill>
                <a:latin typeface="Calibri"/>
              </a:rPr>
              <a:t>Flags cases that fall outside a mediator’s mandate and points to the right formal channel, instead of letting them close informally.</a:t>
            </a:r>
          </a:p>
        </p:txBody>
      </p:sp>
      <p:sp>
        <p:nvSpPr>
          <p:cNvPr id="18" name="TextBox 17"/>
          <p:cNvSpPr txBox="1"/>
          <p:nvPr/>
        </p:nvSpPr>
        <p:spPr>
          <a:xfrm>
            <a:off x="11475720" y="6510528"/>
            <a:ext cx="548640" cy="274320"/>
          </a:xfrm>
          <a:prstGeom prst="rect">
            <a:avLst/>
          </a:prstGeom>
          <a:noFill/>
        </p:spPr>
        <p:txBody>
          <a:bodyPr wrap="square" lIns="0" tIns="0" rIns="0" bIns="0" anchor="t">
            <a:spAutoFit/>
          </a:bodyPr>
          <a:lstStyle/>
          <a:p>
            <a:pPr algn="r">
              <a:lnSpc>
                <a:spcPct val="115000"/>
              </a:lnSpc>
            </a:pPr>
            <a:r>
              <a:rPr sz="900" b="0" i="0">
                <a:solidFill>
                  <a:srgbClr val="5C665E"/>
                </a:solidFill>
                <a:latin typeface="Calibri"/>
              </a:rPr>
              <a:t>03/10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8229600" cy="220701"/>
          </a:xfrm>
          <a:prstGeom prst="rect">
            <a:avLst/>
          </a:prstGeom>
          <a:noFill/>
        </p:spPr>
        <p:txBody>
          <a:bodyPr wrap="square" lIns="0" tIns="0" rIns="0" bIns="0" anchor="t">
            <a:spAutoFit/>
          </a:bodyPr>
          <a:lstStyle/>
          <a:p>
            <a:pPr algn="l">
              <a:lnSpc>
                <a:spcPct val="130000"/>
              </a:lnSpc>
            </a:pPr>
            <a:r>
              <a:rPr lang="en-US" sz="1200" b="1" dirty="0">
                <a:solidFill>
                  <a:srgbClr val="B1791F"/>
                </a:solidFill>
                <a:latin typeface="Calibri"/>
              </a:rPr>
              <a:t>INSIGHT FOR GOVERNMENT INSTITUTIONS</a:t>
            </a:r>
            <a:endParaRPr sz="1200" b="1" dirty="0">
              <a:solidFill>
                <a:srgbClr val="B1791F"/>
              </a:solidFill>
              <a:latin typeface="Calibri"/>
            </a:endParaRPr>
          </a:p>
        </p:txBody>
      </p:sp>
      <p:sp>
        <p:nvSpPr>
          <p:cNvPr id="4" name="TextBox 3"/>
          <p:cNvSpPr txBox="1"/>
          <p:nvPr/>
        </p:nvSpPr>
        <p:spPr>
          <a:xfrm>
            <a:off x="640080" y="868680"/>
            <a:ext cx="10789920" cy="1005840"/>
          </a:xfrm>
          <a:prstGeom prst="rect">
            <a:avLst/>
          </a:prstGeom>
          <a:noFill/>
        </p:spPr>
        <p:txBody>
          <a:bodyPr wrap="square" lIns="0" tIns="0" rIns="0" bIns="0" anchor="t">
            <a:spAutoFit/>
          </a:bodyPr>
          <a:lstStyle/>
          <a:p>
            <a:pPr algn="l">
              <a:lnSpc>
                <a:spcPct val="105000"/>
              </a:lnSpc>
            </a:pPr>
            <a:r>
              <a:rPr sz="2700" b="0" i="0">
                <a:solidFill>
                  <a:srgbClr val="1A221D"/>
                </a:solidFill>
                <a:latin typeface="Georgia"/>
              </a:rPr>
              <a:t>What one mediator knows, an institution can finally see.</a:t>
            </a:r>
          </a:p>
        </p:txBody>
      </p:sp>
      <p:sp>
        <p:nvSpPr>
          <p:cNvPr id="5" name="TextBox 4"/>
          <p:cNvSpPr txBox="1"/>
          <p:nvPr/>
        </p:nvSpPr>
        <p:spPr>
          <a:xfrm>
            <a:off x="640080" y="1554480"/>
            <a:ext cx="10607040" cy="914400"/>
          </a:xfrm>
          <a:prstGeom prst="rect">
            <a:avLst/>
          </a:prstGeom>
          <a:noFill/>
        </p:spPr>
        <p:txBody>
          <a:bodyPr wrap="square" lIns="0" tIns="0" rIns="0" bIns="0" anchor="t">
            <a:spAutoFit/>
          </a:bodyPr>
          <a:lstStyle/>
          <a:p>
            <a:pPr algn="l">
              <a:lnSpc>
                <a:spcPct val="135000"/>
              </a:lnSpc>
            </a:pPr>
            <a:r>
              <a:rPr sz="1450" b="0" i="0">
                <a:solidFill>
                  <a:srgbClr val="5C665E"/>
                </a:solidFill>
                <a:latin typeface="Calibri"/>
              </a:rPr>
              <a:t>A separate admin dashboard gives the overseeing institution, a state Ministry of Justice or an NGO like CIPP, full visibility into what disputes are arising and where. Patterns and emerging hotspots become visible in real time, instead of staying locked in one mediator’s memory.</a:t>
            </a:r>
          </a:p>
        </p:txBody>
      </p:sp>
      <p:sp>
        <p:nvSpPr>
          <p:cNvPr id="6" name="Rounded Rectangle 5"/>
          <p:cNvSpPr/>
          <p:nvPr/>
        </p:nvSpPr>
        <p:spPr>
          <a:xfrm>
            <a:off x="640080" y="2606040"/>
            <a:ext cx="5120640" cy="352044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2788920"/>
            <a:ext cx="4572000" cy="274320"/>
          </a:xfrm>
          <a:prstGeom prst="rect">
            <a:avLst/>
          </a:prstGeom>
          <a:noFill/>
        </p:spPr>
        <p:txBody>
          <a:bodyPr wrap="square" lIns="0" tIns="0" rIns="0" bIns="0" anchor="t">
            <a:spAutoFit/>
          </a:bodyPr>
          <a:lstStyle/>
          <a:p>
            <a:pPr algn="l">
              <a:lnSpc>
                <a:spcPct val="115000"/>
              </a:lnSpc>
            </a:pPr>
            <a:r>
              <a:rPr sz="1050" b="1" i="0">
                <a:solidFill>
                  <a:srgbClr val="5C665E"/>
                </a:solidFill>
                <a:latin typeface="Calibri"/>
              </a:rPr>
              <a:t>CASE ACTIVITY BY STATE (ILLUSTRATIVE)</a:t>
            </a:r>
          </a:p>
        </p:txBody>
      </p:sp>
      <p:sp>
        <p:nvSpPr>
          <p:cNvPr id="8" name="Rounded Rectangle 7"/>
          <p:cNvSpPr/>
          <p:nvPr/>
        </p:nvSpPr>
        <p:spPr>
          <a:xfrm>
            <a:off x="868680" y="3154680"/>
            <a:ext cx="4663440" cy="2331720"/>
          </a:xfrm>
          <a:prstGeom prst="roundRect">
            <a:avLst>
              <a:gd name="adj" fmla="val 12000"/>
            </a:avLst>
          </a:prstGeom>
          <a:solidFill>
            <a:srgbClr val="EC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1463040" y="3657600"/>
            <a:ext cx="822960" cy="822960"/>
          </a:xfrm>
          <a:prstGeom prst="ellipse">
            <a:avLst/>
          </a:prstGeom>
          <a:solidFill>
            <a:srgbClr val="A83C3C"/>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800" b="1">
                <a:solidFill>
                  <a:srgbClr val="FFFFFF"/>
                </a:solidFill>
                <a:latin typeface="Calibri"/>
              </a:rPr>
              <a:t>Kaduna</a:t>
            </a:r>
          </a:p>
        </p:txBody>
      </p:sp>
      <p:sp>
        <p:nvSpPr>
          <p:cNvPr id="10" name="Oval 9"/>
          <p:cNvSpPr/>
          <p:nvPr/>
        </p:nvSpPr>
        <p:spPr>
          <a:xfrm>
            <a:off x="3520440" y="4343400"/>
            <a:ext cx="617220" cy="617220"/>
          </a:xfrm>
          <a:prstGeom prst="ellipse">
            <a:avLst/>
          </a:prstGeom>
          <a:solidFill>
            <a:srgbClr val="B1791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800" b="1">
                <a:solidFill>
                  <a:srgbClr val="FFFFFF"/>
                </a:solidFill>
                <a:latin typeface="Calibri"/>
              </a:rPr>
              <a:t>Lagos</a:t>
            </a:r>
          </a:p>
        </p:txBody>
      </p:sp>
      <p:sp>
        <p:nvSpPr>
          <p:cNvPr id="11" name="Oval 10"/>
          <p:cNvSpPr/>
          <p:nvPr/>
        </p:nvSpPr>
        <p:spPr>
          <a:xfrm>
            <a:off x="4389120" y="4709160"/>
            <a:ext cx="699516" cy="699516"/>
          </a:xfrm>
          <a:prstGeom prst="ellipse">
            <a:avLst/>
          </a:prstGeom>
          <a:solidFill>
            <a:srgbClr val="B1791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800" b="1">
                <a:solidFill>
                  <a:srgbClr val="FFFFFF"/>
                </a:solidFill>
                <a:latin typeface="Calibri"/>
              </a:rPr>
              <a:t>Benue</a:t>
            </a:r>
          </a:p>
        </p:txBody>
      </p:sp>
      <p:sp>
        <p:nvSpPr>
          <p:cNvPr id="12" name="Oval 11"/>
          <p:cNvSpPr/>
          <p:nvPr/>
        </p:nvSpPr>
        <p:spPr>
          <a:xfrm>
            <a:off x="2331720" y="4892040"/>
            <a:ext cx="493776" cy="493776"/>
          </a:xfrm>
          <a:prstGeom prst="ellipse">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800" b="1">
                <a:solidFill>
                  <a:srgbClr val="FFFFFF"/>
                </a:solidFill>
                <a:latin typeface="Calibri"/>
              </a:rPr>
              <a:t>Oyo</a:t>
            </a:r>
          </a:p>
        </p:txBody>
      </p:sp>
      <p:sp>
        <p:nvSpPr>
          <p:cNvPr id="13" name="Oval 12"/>
          <p:cNvSpPr/>
          <p:nvPr/>
        </p:nvSpPr>
        <p:spPr>
          <a:xfrm>
            <a:off x="1920240" y="3474720"/>
            <a:ext cx="534924" cy="534924"/>
          </a:xfrm>
          <a:prstGeom prst="ellipse">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sz="800" b="1">
                <a:solidFill>
                  <a:srgbClr val="FFFFFF"/>
                </a:solidFill>
                <a:latin typeface="Calibri"/>
              </a:rPr>
              <a:t>Sokoto</a:t>
            </a:r>
          </a:p>
        </p:txBody>
      </p:sp>
      <p:sp>
        <p:nvSpPr>
          <p:cNvPr id="14" name="Oval 13"/>
          <p:cNvSpPr/>
          <p:nvPr/>
        </p:nvSpPr>
        <p:spPr>
          <a:xfrm>
            <a:off x="868680" y="5623560"/>
            <a:ext cx="128016" cy="128016"/>
          </a:xfrm>
          <a:prstGeom prst="ellipse">
            <a:avLst/>
          </a:prstGeom>
          <a:solidFill>
            <a:srgbClr val="A8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5559552"/>
            <a:ext cx="1463040" cy="274320"/>
          </a:xfrm>
          <a:prstGeom prst="rect">
            <a:avLst/>
          </a:prstGeom>
          <a:noFill/>
        </p:spPr>
        <p:txBody>
          <a:bodyPr wrap="square" lIns="0" tIns="0" rIns="0" bIns="0" anchor="t">
            <a:spAutoFit/>
          </a:bodyPr>
          <a:lstStyle/>
          <a:p>
            <a:pPr algn="l">
              <a:lnSpc>
                <a:spcPct val="115000"/>
              </a:lnSpc>
            </a:pPr>
            <a:r>
              <a:rPr sz="950" b="0" i="0">
                <a:solidFill>
                  <a:srgbClr val="5C665E"/>
                </a:solidFill>
                <a:latin typeface="Calibri"/>
              </a:rPr>
              <a:t>High referral rate</a:t>
            </a:r>
          </a:p>
        </p:txBody>
      </p:sp>
      <p:sp>
        <p:nvSpPr>
          <p:cNvPr id="16" name="Oval 15"/>
          <p:cNvSpPr/>
          <p:nvPr/>
        </p:nvSpPr>
        <p:spPr>
          <a:xfrm>
            <a:off x="2468880" y="5623560"/>
            <a:ext cx="128016" cy="128016"/>
          </a:xfrm>
          <a:prstGeom prst="ellipse">
            <a:avLst/>
          </a:prstGeom>
          <a:solidFill>
            <a:srgbClr val="B1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651760" y="5559552"/>
            <a:ext cx="1463040" cy="274320"/>
          </a:xfrm>
          <a:prstGeom prst="rect">
            <a:avLst/>
          </a:prstGeom>
          <a:noFill/>
        </p:spPr>
        <p:txBody>
          <a:bodyPr wrap="square" lIns="0" tIns="0" rIns="0" bIns="0" anchor="t">
            <a:spAutoFit/>
          </a:bodyPr>
          <a:lstStyle/>
          <a:p>
            <a:pPr algn="l">
              <a:lnSpc>
                <a:spcPct val="115000"/>
              </a:lnSpc>
            </a:pPr>
            <a:r>
              <a:rPr sz="950" b="0" i="0">
                <a:solidFill>
                  <a:srgbClr val="5C665E"/>
                </a:solidFill>
                <a:latin typeface="Calibri"/>
              </a:rPr>
              <a:t>Moderate</a:t>
            </a:r>
          </a:p>
        </p:txBody>
      </p:sp>
      <p:sp>
        <p:nvSpPr>
          <p:cNvPr id="18" name="Oval 17"/>
          <p:cNvSpPr/>
          <p:nvPr/>
        </p:nvSpPr>
        <p:spPr>
          <a:xfrm>
            <a:off x="4069080" y="5623560"/>
            <a:ext cx="128016" cy="128016"/>
          </a:xfrm>
          <a:prstGeom prst="ellipse">
            <a:avLst/>
          </a:prstGeom>
          <a:solidFill>
            <a:srgbClr val="2F7A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51960" y="5559552"/>
            <a:ext cx="1463040" cy="274320"/>
          </a:xfrm>
          <a:prstGeom prst="rect">
            <a:avLst/>
          </a:prstGeom>
          <a:noFill/>
        </p:spPr>
        <p:txBody>
          <a:bodyPr wrap="square" lIns="0" tIns="0" rIns="0" bIns="0" anchor="t">
            <a:spAutoFit/>
          </a:bodyPr>
          <a:lstStyle/>
          <a:p>
            <a:pPr algn="l">
              <a:lnSpc>
                <a:spcPct val="115000"/>
              </a:lnSpc>
            </a:pPr>
            <a:r>
              <a:rPr sz="950" b="0" i="0">
                <a:solidFill>
                  <a:srgbClr val="5C665E"/>
                </a:solidFill>
                <a:latin typeface="Calibri"/>
              </a:rPr>
              <a:t>Low</a:t>
            </a:r>
          </a:p>
        </p:txBody>
      </p:sp>
      <p:sp>
        <p:nvSpPr>
          <p:cNvPr id="20" name="Rounded Rectangle 19"/>
          <p:cNvSpPr/>
          <p:nvPr/>
        </p:nvSpPr>
        <p:spPr>
          <a:xfrm>
            <a:off x="5989320" y="2606040"/>
            <a:ext cx="5577840" cy="352044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17920" y="2788920"/>
            <a:ext cx="5029200" cy="274320"/>
          </a:xfrm>
          <a:prstGeom prst="rect">
            <a:avLst/>
          </a:prstGeom>
          <a:noFill/>
        </p:spPr>
        <p:txBody>
          <a:bodyPr wrap="square" lIns="0" tIns="0" rIns="0" bIns="0" anchor="t">
            <a:spAutoFit/>
          </a:bodyPr>
          <a:lstStyle/>
          <a:p>
            <a:pPr algn="l">
              <a:lnSpc>
                <a:spcPct val="115000"/>
              </a:lnSpc>
            </a:pPr>
            <a:r>
              <a:rPr sz="1050" b="1" i="0">
                <a:solidFill>
                  <a:srgbClr val="5C665E"/>
                </a:solidFill>
                <a:latin typeface="Calibri"/>
              </a:rPr>
              <a:t>CASES BY TYPE</a:t>
            </a:r>
          </a:p>
        </p:txBody>
      </p:sp>
      <p:sp>
        <p:nvSpPr>
          <p:cNvPr id="22" name="TextBox 21"/>
          <p:cNvSpPr txBox="1"/>
          <p:nvPr/>
        </p:nvSpPr>
        <p:spPr>
          <a:xfrm>
            <a:off x="6217920" y="3246120"/>
            <a:ext cx="1737360" cy="274320"/>
          </a:xfrm>
          <a:prstGeom prst="rect">
            <a:avLst/>
          </a:prstGeom>
          <a:noFill/>
        </p:spPr>
        <p:txBody>
          <a:bodyPr wrap="square" lIns="0" tIns="0" rIns="0" bIns="0" anchor="t">
            <a:spAutoFit/>
          </a:bodyPr>
          <a:lstStyle/>
          <a:p>
            <a:pPr algn="l">
              <a:lnSpc>
                <a:spcPct val="115000"/>
              </a:lnSpc>
            </a:pPr>
            <a:r>
              <a:rPr sz="1100" b="0" i="0">
                <a:solidFill>
                  <a:srgbClr val="5C665E"/>
                </a:solidFill>
                <a:latin typeface="Calibri"/>
              </a:rPr>
              <a:t>Land boundary</a:t>
            </a:r>
          </a:p>
        </p:txBody>
      </p:sp>
      <p:sp>
        <p:nvSpPr>
          <p:cNvPr id="23" name="Rounded Rectangle 22"/>
          <p:cNvSpPr/>
          <p:nvPr/>
        </p:nvSpPr>
        <p:spPr>
          <a:xfrm>
            <a:off x="8001000" y="3273552"/>
            <a:ext cx="2926080" cy="146304"/>
          </a:xfrm>
          <a:prstGeom prst="roundRect">
            <a:avLst>
              <a:gd name="adj" fmla="val 50000"/>
            </a:avLst>
          </a:prstGeom>
          <a:solidFill>
            <a:srgbClr val="EC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8001000" y="3273552"/>
            <a:ext cx="2282342" cy="146304"/>
          </a:xfrm>
          <a:prstGeom prst="roundRect">
            <a:avLst>
              <a:gd name="adj" fmla="val 50000"/>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1018520" y="3246120"/>
            <a:ext cx="365760" cy="274320"/>
          </a:xfrm>
          <a:prstGeom prst="rect">
            <a:avLst/>
          </a:prstGeom>
          <a:noFill/>
        </p:spPr>
        <p:txBody>
          <a:bodyPr wrap="square" lIns="0" tIns="0" rIns="0" bIns="0" anchor="t">
            <a:spAutoFit/>
          </a:bodyPr>
          <a:lstStyle/>
          <a:p>
            <a:pPr algn="r">
              <a:lnSpc>
                <a:spcPct val="115000"/>
              </a:lnSpc>
            </a:pPr>
            <a:r>
              <a:rPr sz="1050" b="0" i="0">
                <a:solidFill>
                  <a:srgbClr val="5C665E"/>
                </a:solidFill>
                <a:latin typeface="Calibri"/>
              </a:rPr>
              <a:t>14</a:t>
            </a:r>
          </a:p>
        </p:txBody>
      </p:sp>
      <p:sp>
        <p:nvSpPr>
          <p:cNvPr id="26" name="TextBox 25"/>
          <p:cNvSpPr txBox="1"/>
          <p:nvPr/>
        </p:nvSpPr>
        <p:spPr>
          <a:xfrm>
            <a:off x="6217920" y="3703320"/>
            <a:ext cx="1737360" cy="274320"/>
          </a:xfrm>
          <a:prstGeom prst="rect">
            <a:avLst/>
          </a:prstGeom>
          <a:noFill/>
        </p:spPr>
        <p:txBody>
          <a:bodyPr wrap="square" lIns="0" tIns="0" rIns="0" bIns="0" anchor="t">
            <a:spAutoFit/>
          </a:bodyPr>
          <a:lstStyle/>
          <a:p>
            <a:pPr algn="l">
              <a:lnSpc>
                <a:spcPct val="115000"/>
              </a:lnSpc>
            </a:pPr>
            <a:r>
              <a:rPr sz="1100" b="0" i="0">
                <a:solidFill>
                  <a:srgbClr val="5C665E"/>
                </a:solidFill>
                <a:latin typeface="Calibri"/>
              </a:rPr>
              <a:t>Family / inheritance</a:t>
            </a:r>
          </a:p>
        </p:txBody>
      </p:sp>
      <p:sp>
        <p:nvSpPr>
          <p:cNvPr id="27" name="Rounded Rectangle 26"/>
          <p:cNvSpPr/>
          <p:nvPr/>
        </p:nvSpPr>
        <p:spPr>
          <a:xfrm>
            <a:off x="8001000" y="3730752"/>
            <a:ext cx="2926080" cy="146304"/>
          </a:xfrm>
          <a:prstGeom prst="roundRect">
            <a:avLst>
              <a:gd name="adj" fmla="val 50000"/>
            </a:avLst>
          </a:prstGeom>
          <a:solidFill>
            <a:srgbClr val="EC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001000" y="3730752"/>
            <a:ext cx="1638604" cy="146304"/>
          </a:xfrm>
          <a:prstGeom prst="roundRect">
            <a:avLst>
              <a:gd name="adj" fmla="val 50000"/>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1018520" y="3703320"/>
            <a:ext cx="365760" cy="274320"/>
          </a:xfrm>
          <a:prstGeom prst="rect">
            <a:avLst/>
          </a:prstGeom>
          <a:noFill/>
        </p:spPr>
        <p:txBody>
          <a:bodyPr wrap="square" lIns="0" tIns="0" rIns="0" bIns="0" anchor="t">
            <a:spAutoFit/>
          </a:bodyPr>
          <a:lstStyle/>
          <a:p>
            <a:pPr algn="r">
              <a:lnSpc>
                <a:spcPct val="115000"/>
              </a:lnSpc>
            </a:pPr>
            <a:r>
              <a:rPr sz="1050" b="0" i="0">
                <a:solidFill>
                  <a:srgbClr val="5C665E"/>
                </a:solidFill>
                <a:latin typeface="Calibri"/>
              </a:rPr>
              <a:t>10</a:t>
            </a:r>
          </a:p>
        </p:txBody>
      </p:sp>
      <p:sp>
        <p:nvSpPr>
          <p:cNvPr id="30" name="TextBox 29"/>
          <p:cNvSpPr txBox="1"/>
          <p:nvPr/>
        </p:nvSpPr>
        <p:spPr>
          <a:xfrm>
            <a:off x="6217920" y="4160520"/>
            <a:ext cx="1737360" cy="274320"/>
          </a:xfrm>
          <a:prstGeom prst="rect">
            <a:avLst/>
          </a:prstGeom>
          <a:noFill/>
        </p:spPr>
        <p:txBody>
          <a:bodyPr wrap="square" lIns="0" tIns="0" rIns="0" bIns="0" anchor="t">
            <a:spAutoFit/>
          </a:bodyPr>
          <a:lstStyle/>
          <a:p>
            <a:pPr algn="l">
              <a:lnSpc>
                <a:spcPct val="115000"/>
              </a:lnSpc>
            </a:pPr>
            <a:r>
              <a:rPr sz="1100" b="0" i="0">
                <a:solidFill>
                  <a:srgbClr val="5C665E"/>
                </a:solidFill>
                <a:latin typeface="Calibri"/>
              </a:rPr>
              <a:t>Debt / property</a:t>
            </a:r>
          </a:p>
        </p:txBody>
      </p:sp>
      <p:sp>
        <p:nvSpPr>
          <p:cNvPr id="31" name="Rounded Rectangle 30"/>
          <p:cNvSpPr/>
          <p:nvPr/>
        </p:nvSpPr>
        <p:spPr>
          <a:xfrm>
            <a:off x="8001000" y="4187952"/>
            <a:ext cx="2926080" cy="146304"/>
          </a:xfrm>
          <a:prstGeom prst="roundRect">
            <a:avLst>
              <a:gd name="adj" fmla="val 50000"/>
            </a:avLst>
          </a:prstGeom>
          <a:solidFill>
            <a:srgbClr val="EC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001000" y="4187952"/>
            <a:ext cx="1287475" cy="146304"/>
          </a:xfrm>
          <a:prstGeom prst="roundRect">
            <a:avLst>
              <a:gd name="adj" fmla="val 50000"/>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018520" y="4160520"/>
            <a:ext cx="365760" cy="274320"/>
          </a:xfrm>
          <a:prstGeom prst="rect">
            <a:avLst/>
          </a:prstGeom>
          <a:noFill/>
        </p:spPr>
        <p:txBody>
          <a:bodyPr wrap="square" lIns="0" tIns="0" rIns="0" bIns="0" anchor="t">
            <a:spAutoFit/>
          </a:bodyPr>
          <a:lstStyle/>
          <a:p>
            <a:pPr algn="r">
              <a:lnSpc>
                <a:spcPct val="115000"/>
              </a:lnSpc>
            </a:pPr>
            <a:r>
              <a:rPr sz="1050" b="0" i="0">
                <a:solidFill>
                  <a:srgbClr val="5C665E"/>
                </a:solidFill>
                <a:latin typeface="Calibri"/>
              </a:rPr>
              <a:t>8</a:t>
            </a:r>
          </a:p>
        </p:txBody>
      </p:sp>
      <p:sp>
        <p:nvSpPr>
          <p:cNvPr id="34" name="TextBox 33"/>
          <p:cNvSpPr txBox="1"/>
          <p:nvPr/>
        </p:nvSpPr>
        <p:spPr>
          <a:xfrm>
            <a:off x="6217920" y="4617720"/>
            <a:ext cx="1737360" cy="274320"/>
          </a:xfrm>
          <a:prstGeom prst="rect">
            <a:avLst/>
          </a:prstGeom>
          <a:noFill/>
        </p:spPr>
        <p:txBody>
          <a:bodyPr wrap="square" lIns="0" tIns="0" rIns="0" bIns="0" anchor="t">
            <a:spAutoFit/>
          </a:bodyPr>
          <a:lstStyle/>
          <a:p>
            <a:pPr algn="l">
              <a:lnSpc>
                <a:spcPct val="115000"/>
              </a:lnSpc>
            </a:pPr>
            <a:r>
              <a:rPr sz="1100" b="0" i="0">
                <a:solidFill>
                  <a:srgbClr val="5C665E"/>
                </a:solidFill>
                <a:latin typeface="Calibri"/>
              </a:rPr>
              <a:t>Neighbor conflict</a:t>
            </a:r>
          </a:p>
        </p:txBody>
      </p:sp>
      <p:sp>
        <p:nvSpPr>
          <p:cNvPr id="35" name="Rounded Rectangle 34"/>
          <p:cNvSpPr/>
          <p:nvPr/>
        </p:nvSpPr>
        <p:spPr>
          <a:xfrm>
            <a:off x="8001000" y="4645152"/>
            <a:ext cx="2926080" cy="146304"/>
          </a:xfrm>
          <a:prstGeom prst="roundRect">
            <a:avLst>
              <a:gd name="adj" fmla="val 50000"/>
            </a:avLst>
          </a:prstGeom>
          <a:solidFill>
            <a:srgbClr val="EC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8001000" y="4645152"/>
            <a:ext cx="965606" cy="146304"/>
          </a:xfrm>
          <a:prstGeom prst="roundRect">
            <a:avLst>
              <a:gd name="adj" fmla="val 50000"/>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1018520" y="4617720"/>
            <a:ext cx="365760" cy="274320"/>
          </a:xfrm>
          <a:prstGeom prst="rect">
            <a:avLst/>
          </a:prstGeom>
          <a:noFill/>
        </p:spPr>
        <p:txBody>
          <a:bodyPr wrap="square" lIns="0" tIns="0" rIns="0" bIns="0" anchor="t">
            <a:spAutoFit/>
          </a:bodyPr>
          <a:lstStyle/>
          <a:p>
            <a:pPr algn="r">
              <a:lnSpc>
                <a:spcPct val="115000"/>
              </a:lnSpc>
            </a:pPr>
            <a:r>
              <a:rPr sz="1050" b="0" i="0">
                <a:solidFill>
                  <a:srgbClr val="5C665E"/>
                </a:solidFill>
                <a:latin typeface="Calibri"/>
              </a:rPr>
              <a:t>6</a:t>
            </a:r>
          </a:p>
        </p:txBody>
      </p:sp>
      <p:sp>
        <p:nvSpPr>
          <p:cNvPr id="38" name="TextBox 37"/>
          <p:cNvSpPr txBox="1"/>
          <p:nvPr/>
        </p:nvSpPr>
        <p:spPr>
          <a:xfrm>
            <a:off x="6217920" y="5074920"/>
            <a:ext cx="1737360" cy="274320"/>
          </a:xfrm>
          <a:prstGeom prst="rect">
            <a:avLst/>
          </a:prstGeom>
          <a:noFill/>
        </p:spPr>
        <p:txBody>
          <a:bodyPr wrap="square" lIns="0" tIns="0" rIns="0" bIns="0" anchor="t">
            <a:spAutoFit/>
          </a:bodyPr>
          <a:lstStyle/>
          <a:p>
            <a:pPr algn="l">
              <a:lnSpc>
                <a:spcPct val="115000"/>
              </a:lnSpc>
            </a:pPr>
            <a:r>
              <a:rPr sz="1100" b="0" i="0">
                <a:solidFill>
                  <a:srgbClr val="5C665E"/>
                </a:solidFill>
                <a:latin typeface="Calibri"/>
              </a:rPr>
              <a:t>Referred out</a:t>
            </a:r>
          </a:p>
        </p:txBody>
      </p:sp>
      <p:sp>
        <p:nvSpPr>
          <p:cNvPr id="39" name="Rounded Rectangle 38"/>
          <p:cNvSpPr/>
          <p:nvPr/>
        </p:nvSpPr>
        <p:spPr>
          <a:xfrm>
            <a:off x="8001000" y="5102352"/>
            <a:ext cx="2926080" cy="146304"/>
          </a:xfrm>
          <a:prstGeom prst="roundRect">
            <a:avLst>
              <a:gd name="adj" fmla="val 50000"/>
            </a:avLst>
          </a:prstGeom>
          <a:solidFill>
            <a:srgbClr val="ECEE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8001000" y="5102352"/>
            <a:ext cx="497433" cy="146304"/>
          </a:xfrm>
          <a:prstGeom prst="roundRect">
            <a:avLst>
              <a:gd name="adj" fmla="val 50000"/>
            </a:avLst>
          </a:prstGeom>
          <a:solidFill>
            <a:srgbClr val="A83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018520" y="5074920"/>
            <a:ext cx="365760" cy="274320"/>
          </a:xfrm>
          <a:prstGeom prst="rect">
            <a:avLst/>
          </a:prstGeom>
          <a:noFill/>
        </p:spPr>
        <p:txBody>
          <a:bodyPr wrap="square" lIns="0" tIns="0" rIns="0" bIns="0" anchor="t">
            <a:spAutoFit/>
          </a:bodyPr>
          <a:lstStyle/>
          <a:p>
            <a:pPr algn="r">
              <a:lnSpc>
                <a:spcPct val="115000"/>
              </a:lnSpc>
            </a:pPr>
            <a:r>
              <a:rPr sz="1050" b="0" i="0">
                <a:solidFill>
                  <a:srgbClr val="5C665E"/>
                </a:solidFill>
                <a:latin typeface="Calibri"/>
              </a:rPr>
              <a:t>3</a:t>
            </a:r>
          </a:p>
        </p:txBody>
      </p:sp>
      <p:sp>
        <p:nvSpPr>
          <p:cNvPr id="42" name="TextBox 41"/>
          <p:cNvSpPr txBox="1"/>
          <p:nvPr/>
        </p:nvSpPr>
        <p:spPr>
          <a:xfrm>
            <a:off x="11475720" y="6510528"/>
            <a:ext cx="548640" cy="274320"/>
          </a:xfrm>
          <a:prstGeom prst="rect">
            <a:avLst/>
          </a:prstGeom>
          <a:noFill/>
        </p:spPr>
        <p:txBody>
          <a:bodyPr wrap="square" lIns="0" tIns="0" rIns="0" bIns="0" anchor="t">
            <a:spAutoFit/>
          </a:bodyPr>
          <a:lstStyle/>
          <a:p>
            <a:pPr algn="r">
              <a:lnSpc>
                <a:spcPct val="115000"/>
              </a:lnSpc>
            </a:pPr>
            <a:r>
              <a:rPr sz="900" b="0" i="0">
                <a:solidFill>
                  <a:srgbClr val="5C665E"/>
                </a:solidFill>
                <a:latin typeface="Calibri"/>
              </a:rPr>
              <a:t>04/10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8229600" cy="220701"/>
          </a:xfrm>
          <a:prstGeom prst="rect">
            <a:avLst/>
          </a:prstGeom>
          <a:noFill/>
        </p:spPr>
        <p:txBody>
          <a:bodyPr wrap="square" lIns="0" tIns="0" rIns="0" bIns="0" anchor="t">
            <a:spAutoFit/>
          </a:bodyPr>
          <a:lstStyle/>
          <a:p>
            <a:pPr algn="l">
              <a:lnSpc>
                <a:spcPct val="130000"/>
              </a:lnSpc>
            </a:pPr>
            <a:r>
              <a:rPr lang="en-US" sz="1200" b="1" dirty="0">
                <a:solidFill>
                  <a:srgbClr val="B1791F"/>
                </a:solidFill>
                <a:latin typeface="Calibri"/>
              </a:rPr>
              <a:t>HO</a:t>
            </a:r>
            <a:r>
              <a:rPr sz="1200" b="1" dirty="0">
                <a:solidFill>
                  <a:srgbClr val="B1791F"/>
                </a:solidFill>
                <a:latin typeface="Calibri"/>
              </a:rPr>
              <a:t>W IT WORKS</a:t>
            </a:r>
          </a:p>
        </p:txBody>
      </p:sp>
      <p:sp>
        <p:nvSpPr>
          <p:cNvPr id="4" name="TextBox 3"/>
          <p:cNvSpPr txBox="1"/>
          <p:nvPr/>
        </p:nvSpPr>
        <p:spPr>
          <a:xfrm>
            <a:off x="640080" y="868680"/>
            <a:ext cx="10789920" cy="1005840"/>
          </a:xfrm>
          <a:prstGeom prst="rect">
            <a:avLst/>
          </a:prstGeom>
          <a:noFill/>
        </p:spPr>
        <p:txBody>
          <a:bodyPr wrap="square" lIns="0" tIns="0" rIns="0" bIns="0" anchor="t">
            <a:spAutoFit/>
          </a:bodyPr>
          <a:lstStyle/>
          <a:p>
            <a:pPr algn="l">
              <a:lnSpc>
                <a:spcPct val="105000"/>
              </a:lnSpc>
            </a:pPr>
            <a:r>
              <a:rPr sz="2700" b="0" i="0">
                <a:solidFill>
                  <a:srgbClr val="1A221D"/>
                </a:solidFill>
                <a:latin typeface="Georgia"/>
              </a:rPr>
              <a:t>From a conversation under a tree to a record that lasts.</a:t>
            </a:r>
          </a:p>
        </p:txBody>
      </p:sp>
      <p:sp>
        <p:nvSpPr>
          <p:cNvPr id="5" name="Rounded Rectangle 4"/>
          <p:cNvSpPr/>
          <p:nvPr/>
        </p:nvSpPr>
        <p:spPr>
          <a:xfrm>
            <a:off x="640080" y="1783080"/>
            <a:ext cx="2606040" cy="173736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468880" y="1828800"/>
            <a:ext cx="640080" cy="548640"/>
          </a:xfrm>
          <a:prstGeom prst="rect">
            <a:avLst/>
          </a:prstGeom>
          <a:noFill/>
        </p:spPr>
        <p:txBody>
          <a:bodyPr wrap="square" lIns="0" tIns="0" rIns="0" bIns="0" anchor="t">
            <a:spAutoFit/>
          </a:bodyPr>
          <a:lstStyle/>
          <a:p>
            <a:pPr algn="l">
              <a:lnSpc>
                <a:spcPct val="115000"/>
              </a:lnSpc>
            </a:pPr>
            <a:r>
              <a:rPr sz="3000" b="0" i="0">
                <a:solidFill>
                  <a:srgbClr val="D9DBD1"/>
                </a:solidFill>
                <a:latin typeface="Georgia"/>
              </a:rPr>
              <a:t>1</a:t>
            </a:r>
          </a:p>
        </p:txBody>
      </p:sp>
      <p:sp>
        <p:nvSpPr>
          <p:cNvPr id="7" name="TextBox 6"/>
          <p:cNvSpPr txBox="1"/>
          <p:nvPr/>
        </p:nvSpPr>
        <p:spPr>
          <a:xfrm>
            <a:off x="841248" y="2286000"/>
            <a:ext cx="2240280" cy="365760"/>
          </a:xfrm>
          <a:prstGeom prst="rect">
            <a:avLst/>
          </a:prstGeom>
          <a:noFill/>
        </p:spPr>
        <p:txBody>
          <a:bodyPr wrap="square" lIns="0" tIns="0" rIns="0" bIns="0" anchor="t">
            <a:spAutoFit/>
          </a:bodyPr>
          <a:lstStyle/>
          <a:p>
            <a:pPr algn="l">
              <a:lnSpc>
                <a:spcPct val="115000"/>
              </a:lnSpc>
            </a:pPr>
            <a:r>
              <a:rPr sz="1500" b="0" i="0">
                <a:solidFill>
                  <a:srgbClr val="1A221D"/>
                </a:solidFill>
                <a:latin typeface="Georgia"/>
              </a:rPr>
              <a:t>Log</a:t>
            </a:r>
          </a:p>
        </p:txBody>
      </p:sp>
      <p:sp>
        <p:nvSpPr>
          <p:cNvPr id="8" name="TextBox 7"/>
          <p:cNvSpPr txBox="1"/>
          <p:nvPr/>
        </p:nvSpPr>
        <p:spPr>
          <a:xfrm>
            <a:off x="841248" y="2697480"/>
            <a:ext cx="2240280" cy="777240"/>
          </a:xfrm>
          <a:prstGeom prst="rect">
            <a:avLst/>
          </a:prstGeom>
          <a:noFill/>
        </p:spPr>
        <p:txBody>
          <a:bodyPr wrap="square" lIns="0" tIns="0" rIns="0" bIns="0" anchor="t">
            <a:spAutoFit/>
          </a:bodyPr>
          <a:lstStyle/>
          <a:p>
            <a:pPr algn="l">
              <a:lnSpc>
                <a:spcPct val="130000"/>
              </a:lnSpc>
            </a:pPr>
            <a:r>
              <a:rPr sz="1050" b="0" i="0" dirty="0">
                <a:solidFill>
                  <a:srgbClr val="5C665E"/>
                </a:solidFill>
                <a:latin typeface="Calibri"/>
              </a:rPr>
              <a:t>Case type, parties by role, location, and a description, typed or dictated. Saved offline immediately.</a:t>
            </a:r>
          </a:p>
        </p:txBody>
      </p:sp>
      <p:sp>
        <p:nvSpPr>
          <p:cNvPr id="9" name="Rounded Rectangle 8"/>
          <p:cNvSpPr/>
          <p:nvPr/>
        </p:nvSpPr>
        <p:spPr>
          <a:xfrm>
            <a:off x="3383280" y="1783080"/>
            <a:ext cx="2606040" cy="173736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12080" y="1828800"/>
            <a:ext cx="640080" cy="548640"/>
          </a:xfrm>
          <a:prstGeom prst="rect">
            <a:avLst/>
          </a:prstGeom>
          <a:noFill/>
        </p:spPr>
        <p:txBody>
          <a:bodyPr wrap="square" lIns="0" tIns="0" rIns="0" bIns="0" anchor="t">
            <a:spAutoFit/>
          </a:bodyPr>
          <a:lstStyle/>
          <a:p>
            <a:pPr algn="l">
              <a:lnSpc>
                <a:spcPct val="115000"/>
              </a:lnSpc>
            </a:pPr>
            <a:r>
              <a:rPr sz="3000" b="0" i="0">
                <a:solidFill>
                  <a:srgbClr val="D9DBD1"/>
                </a:solidFill>
                <a:latin typeface="Georgia"/>
              </a:rPr>
              <a:t>2</a:t>
            </a:r>
          </a:p>
        </p:txBody>
      </p:sp>
      <p:sp>
        <p:nvSpPr>
          <p:cNvPr id="11" name="TextBox 10"/>
          <p:cNvSpPr txBox="1"/>
          <p:nvPr/>
        </p:nvSpPr>
        <p:spPr>
          <a:xfrm>
            <a:off x="3584448" y="2286000"/>
            <a:ext cx="2240280" cy="365760"/>
          </a:xfrm>
          <a:prstGeom prst="rect">
            <a:avLst/>
          </a:prstGeom>
          <a:noFill/>
        </p:spPr>
        <p:txBody>
          <a:bodyPr wrap="square" lIns="0" tIns="0" rIns="0" bIns="0" anchor="t">
            <a:spAutoFit/>
          </a:bodyPr>
          <a:lstStyle/>
          <a:p>
            <a:pPr algn="l">
              <a:lnSpc>
                <a:spcPct val="115000"/>
              </a:lnSpc>
            </a:pPr>
            <a:r>
              <a:rPr sz="1500" b="0" i="0">
                <a:solidFill>
                  <a:srgbClr val="1A221D"/>
                </a:solidFill>
                <a:latin typeface="Georgia"/>
              </a:rPr>
              <a:t>Flag</a:t>
            </a:r>
          </a:p>
        </p:txBody>
      </p:sp>
      <p:sp>
        <p:nvSpPr>
          <p:cNvPr id="12" name="TextBox 11"/>
          <p:cNvSpPr txBox="1"/>
          <p:nvPr/>
        </p:nvSpPr>
        <p:spPr>
          <a:xfrm>
            <a:off x="3584448" y="2697480"/>
            <a:ext cx="2240280" cy="777240"/>
          </a:xfrm>
          <a:prstGeom prst="rect">
            <a:avLst/>
          </a:prstGeom>
          <a:noFill/>
        </p:spPr>
        <p:txBody>
          <a:bodyPr wrap="square" lIns="0" tIns="0" rIns="0" bIns="0" anchor="t">
            <a:spAutoFit/>
          </a:bodyPr>
          <a:lstStyle/>
          <a:p>
            <a:pPr algn="l">
              <a:lnSpc>
                <a:spcPct val="130000"/>
              </a:lnSpc>
            </a:pPr>
            <a:r>
              <a:rPr sz="1050" b="0" i="0">
                <a:solidFill>
                  <a:srgbClr val="5C665E"/>
                </a:solidFill>
                <a:latin typeface="Calibri"/>
              </a:rPr>
              <a:t>If the case looks outside informal mediation, a referral prompt appears on the spot, with the reason shown.</a:t>
            </a:r>
          </a:p>
        </p:txBody>
      </p:sp>
      <p:sp>
        <p:nvSpPr>
          <p:cNvPr id="13" name="Rounded Rectangle 12"/>
          <p:cNvSpPr/>
          <p:nvPr/>
        </p:nvSpPr>
        <p:spPr>
          <a:xfrm>
            <a:off x="6126480" y="1783080"/>
            <a:ext cx="2606040" cy="173736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55280" y="1828800"/>
            <a:ext cx="640080" cy="548640"/>
          </a:xfrm>
          <a:prstGeom prst="rect">
            <a:avLst/>
          </a:prstGeom>
          <a:noFill/>
        </p:spPr>
        <p:txBody>
          <a:bodyPr wrap="square" lIns="0" tIns="0" rIns="0" bIns="0" anchor="t">
            <a:spAutoFit/>
          </a:bodyPr>
          <a:lstStyle/>
          <a:p>
            <a:pPr algn="l">
              <a:lnSpc>
                <a:spcPct val="115000"/>
              </a:lnSpc>
            </a:pPr>
            <a:r>
              <a:rPr sz="3000" b="0" i="0">
                <a:solidFill>
                  <a:srgbClr val="D9DBD1"/>
                </a:solidFill>
                <a:latin typeface="Georgia"/>
              </a:rPr>
              <a:t>3</a:t>
            </a:r>
          </a:p>
        </p:txBody>
      </p:sp>
      <p:sp>
        <p:nvSpPr>
          <p:cNvPr id="15" name="TextBox 14"/>
          <p:cNvSpPr txBox="1"/>
          <p:nvPr/>
        </p:nvSpPr>
        <p:spPr>
          <a:xfrm>
            <a:off x="6327648" y="2286000"/>
            <a:ext cx="2240280" cy="365760"/>
          </a:xfrm>
          <a:prstGeom prst="rect">
            <a:avLst/>
          </a:prstGeom>
          <a:noFill/>
        </p:spPr>
        <p:txBody>
          <a:bodyPr wrap="square" lIns="0" tIns="0" rIns="0" bIns="0" anchor="t">
            <a:spAutoFit/>
          </a:bodyPr>
          <a:lstStyle/>
          <a:p>
            <a:pPr algn="l">
              <a:lnSpc>
                <a:spcPct val="115000"/>
              </a:lnSpc>
            </a:pPr>
            <a:r>
              <a:rPr sz="1500" b="0" i="0">
                <a:solidFill>
                  <a:srgbClr val="1A221D"/>
                </a:solidFill>
                <a:latin typeface="Georgia"/>
              </a:rPr>
              <a:t>Sync</a:t>
            </a:r>
          </a:p>
        </p:txBody>
      </p:sp>
      <p:sp>
        <p:nvSpPr>
          <p:cNvPr id="16" name="TextBox 15"/>
          <p:cNvSpPr txBox="1"/>
          <p:nvPr/>
        </p:nvSpPr>
        <p:spPr>
          <a:xfrm>
            <a:off x="6327648" y="2697480"/>
            <a:ext cx="2240280" cy="823239"/>
          </a:xfrm>
          <a:prstGeom prst="rect">
            <a:avLst/>
          </a:prstGeom>
          <a:noFill/>
        </p:spPr>
        <p:txBody>
          <a:bodyPr wrap="square" lIns="0" tIns="0" rIns="0" bIns="0" anchor="t">
            <a:spAutoFit/>
          </a:bodyPr>
          <a:lstStyle/>
          <a:p>
            <a:pPr algn="l">
              <a:lnSpc>
                <a:spcPct val="130000"/>
              </a:lnSpc>
            </a:pPr>
            <a:r>
              <a:rPr sz="1050" b="0" i="0" dirty="0">
                <a:solidFill>
                  <a:srgbClr val="5C665E"/>
                </a:solidFill>
                <a:latin typeface="Calibri"/>
              </a:rPr>
              <a:t>Once the phone regains connectivity, the case pushes to the backend</a:t>
            </a:r>
            <a:r>
              <a:rPr lang="en-US" sz="1050" b="0" i="0" dirty="0">
                <a:solidFill>
                  <a:srgbClr val="5C665E"/>
                </a:solidFill>
                <a:latin typeface="Calibri"/>
              </a:rPr>
              <a:t> </a:t>
            </a:r>
            <a:r>
              <a:rPr sz="1050" b="0" i="0" dirty="0">
                <a:solidFill>
                  <a:srgbClr val="5C665E"/>
                </a:solidFill>
                <a:latin typeface="Calibri"/>
              </a:rPr>
              <a:t>automatically. Nothing is lost while offline.</a:t>
            </a:r>
          </a:p>
        </p:txBody>
      </p:sp>
      <p:sp>
        <p:nvSpPr>
          <p:cNvPr id="17" name="Rounded Rectangle 16"/>
          <p:cNvSpPr/>
          <p:nvPr/>
        </p:nvSpPr>
        <p:spPr>
          <a:xfrm>
            <a:off x="8869680" y="1783080"/>
            <a:ext cx="2606040" cy="173736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698480" y="1828800"/>
            <a:ext cx="640080" cy="548640"/>
          </a:xfrm>
          <a:prstGeom prst="rect">
            <a:avLst/>
          </a:prstGeom>
          <a:noFill/>
        </p:spPr>
        <p:txBody>
          <a:bodyPr wrap="square" lIns="0" tIns="0" rIns="0" bIns="0" anchor="t">
            <a:spAutoFit/>
          </a:bodyPr>
          <a:lstStyle/>
          <a:p>
            <a:pPr algn="l">
              <a:lnSpc>
                <a:spcPct val="115000"/>
              </a:lnSpc>
            </a:pPr>
            <a:r>
              <a:rPr sz="3000" b="0" i="0">
                <a:solidFill>
                  <a:srgbClr val="D9DBD1"/>
                </a:solidFill>
                <a:latin typeface="Georgia"/>
              </a:rPr>
              <a:t>4</a:t>
            </a:r>
          </a:p>
        </p:txBody>
      </p:sp>
      <p:sp>
        <p:nvSpPr>
          <p:cNvPr id="19" name="TextBox 18"/>
          <p:cNvSpPr txBox="1"/>
          <p:nvPr/>
        </p:nvSpPr>
        <p:spPr>
          <a:xfrm>
            <a:off x="9070848" y="2286000"/>
            <a:ext cx="2240280" cy="365760"/>
          </a:xfrm>
          <a:prstGeom prst="rect">
            <a:avLst/>
          </a:prstGeom>
          <a:noFill/>
        </p:spPr>
        <p:txBody>
          <a:bodyPr wrap="square" lIns="0" tIns="0" rIns="0" bIns="0" anchor="t">
            <a:spAutoFit/>
          </a:bodyPr>
          <a:lstStyle/>
          <a:p>
            <a:pPr algn="l">
              <a:lnSpc>
                <a:spcPct val="115000"/>
              </a:lnSpc>
            </a:pPr>
            <a:r>
              <a:rPr sz="1500" b="0" i="0">
                <a:solidFill>
                  <a:srgbClr val="1A221D"/>
                </a:solidFill>
                <a:latin typeface="Georgia"/>
              </a:rPr>
              <a:t>Guide</a:t>
            </a:r>
          </a:p>
        </p:txBody>
      </p:sp>
      <p:sp>
        <p:nvSpPr>
          <p:cNvPr id="20" name="TextBox 19"/>
          <p:cNvSpPr txBox="1"/>
          <p:nvPr/>
        </p:nvSpPr>
        <p:spPr>
          <a:xfrm>
            <a:off x="9070848" y="2697480"/>
            <a:ext cx="2240280" cy="777240"/>
          </a:xfrm>
          <a:prstGeom prst="rect">
            <a:avLst/>
          </a:prstGeom>
          <a:noFill/>
        </p:spPr>
        <p:txBody>
          <a:bodyPr wrap="square" lIns="0" tIns="0" rIns="0" bIns="0" anchor="t">
            <a:spAutoFit/>
          </a:bodyPr>
          <a:lstStyle/>
          <a:p>
            <a:pPr algn="l">
              <a:lnSpc>
                <a:spcPct val="130000"/>
              </a:lnSpc>
            </a:pPr>
            <a:r>
              <a:rPr sz="1050" b="0" i="0">
                <a:solidFill>
                  <a:srgbClr val="5C665E"/>
                </a:solidFill>
                <a:latin typeface="Calibri"/>
              </a:rPr>
              <a:t>The mediator can ask for guidance and get back a short, cited summary, or nothing, rather than a guess.</a:t>
            </a:r>
          </a:p>
        </p:txBody>
      </p:sp>
      <p:sp>
        <p:nvSpPr>
          <p:cNvPr id="21" name="Rounded Rectangle 20"/>
          <p:cNvSpPr/>
          <p:nvPr/>
        </p:nvSpPr>
        <p:spPr>
          <a:xfrm>
            <a:off x="1737360" y="3794760"/>
            <a:ext cx="2651760" cy="2606040"/>
          </a:xfrm>
          <a:prstGeom prst="roundRect">
            <a:avLst>
              <a:gd name="adj" fmla="val 8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847088" y="3904487"/>
            <a:ext cx="2432304" cy="2377440"/>
          </a:xfrm>
          <a:prstGeom prst="roundRect">
            <a:avLst>
              <a:gd name="adj" fmla="val 6000"/>
            </a:avLst>
          </a:prstGeom>
          <a:solidFill>
            <a:srgbClr val="191F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975104" y="4041648"/>
            <a:ext cx="1472184" cy="292608"/>
          </a:xfrm>
          <a:prstGeom prst="roundRect">
            <a:avLst>
              <a:gd name="adj" fmla="val 50000"/>
            </a:avLst>
          </a:prstGeom>
          <a:solidFill>
            <a:srgbClr val="F1E3C7"/>
          </a:solidFill>
          <a:ln>
            <a:noFill/>
          </a:ln>
          <a:effectLst/>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900" b="1">
                <a:solidFill>
                  <a:srgbClr val="B1791F"/>
                </a:solidFill>
                <a:latin typeface="Calibri"/>
              </a:rPr>
              <a:t>Land boundary</a:t>
            </a:r>
          </a:p>
        </p:txBody>
      </p:sp>
      <p:sp>
        <p:nvSpPr>
          <p:cNvPr id="24" name="TextBox 23"/>
          <p:cNvSpPr txBox="1"/>
          <p:nvPr/>
        </p:nvSpPr>
        <p:spPr>
          <a:xfrm>
            <a:off x="1975104" y="4453128"/>
            <a:ext cx="2194560" cy="457200"/>
          </a:xfrm>
          <a:prstGeom prst="rect">
            <a:avLst/>
          </a:prstGeom>
          <a:noFill/>
        </p:spPr>
        <p:txBody>
          <a:bodyPr wrap="square" lIns="0" tIns="0" rIns="0" bIns="0" anchor="t">
            <a:spAutoFit/>
          </a:bodyPr>
          <a:lstStyle/>
          <a:p>
            <a:pPr algn="l">
              <a:lnSpc>
                <a:spcPct val="120000"/>
              </a:lnSpc>
            </a:pPr>
            <a:r>
              <a:rPr sz="950" b="0" i="0">
                <a:solidFill>
                  <a:srgbClr val="8B95A1"/>
                </a:solidFill>
                <a:latin typeface="Calibri"/>
              </a:rPr>
              <a:t>Complainant vs. Neighbor · Kaduna</a:t>
            </a:r>
          </a:p>
        </p:txBody>
      </p:sp>
      <p:sp>
        <p:nvSpPr>
          <p:cNvPr id="25" name="TextBox 24"/>
          <p:cNvSpPr txBox="1"/>
          <p:nvPr/>
        </p:nvSpPr>
        <p:spPr>
          <a:xfrm>
            <a:off x="1975104" y="4837176"/>
            <a:ext cx="2194560" cy="914400"/>
          </a:xfrm>
          <a:prstGeom prst="rect">
            <a:avLst/>
          </a:prstGeom>
          <a:noFill/>
        </p:spPr>
        <p:txBody>
          <a:bodyPr wrap="square" lIns="0" tIns="0" rIns="0" bIns="0" anchor="t">
            <a:spAutoFit/>
          </a:bodyPr>
          <a:lstStyle/>
          <a:p>
            <a:pPr algn="l">
              <a:lnSpc>
                <a:spcPct val="130000"/>
              </a:lnSpc>
            </a:pPr>
            <a:r>
              <a:rPr sz="950" b="0" i="0">
                <a:solidFill>
                  <a:srgbClr val="ECEEF0"/>
                </a:solidFill>
                <a:latin typeface="Calibri"/>
              </a:rPr>
              <a:t>Farmer says the shared fence was moved onto his side of the boundary.</a:t>
            </a:r>
          </a:p>
        </p:txBody>
      </p:sp>
      <p:sp>
        <p:nvSpPr>
          <p:cNvPr id="26" name="TextBox 25"/>
          <p:cNvSpPr txBox="1"/>
          <p:nvPr/>
        </p:nvSpPr>
        <p:spPr>
          <a:xfrm>
            <a:off x="1975104" y="6035040"/>
            <a:ext cx="2194560" cy="274320"/>
          </a:xfrm>
          <a:prstGeom prst="rect">
            <a:avLst/>
          </a:prstGeom>
          <a:noFill/>
        </p:spPr>
        <p:txBody>
          <a:bodyPr wrap="square" lIns="0" tIns="0" rIns="0" bIns="0" anchor="t">
            <a:spAutoFit/>
          </a:bodyPr>
          <a:lstStyle/>
          <a:p>
            <a:pPr algn="l">
              <a:lnSpc>
                <a:spcPct val="115000"/>
              </a:lnSpc>
            </a:pPr>
            <a:r>
              <a:rPr sz="900" b="0" i="0">
                <a:solidFill>
                  <a:srgbClr val="8B95A1"/>
                </a:solidFill>
                <a:latin typeface="Calibri"/>
              </a:rPr>
              <a:t>Pending sync</a:t>
            </a:r>
          </a:p>
        </p:txBody>
      </p:sp>
      <p:sp>
        <p:nvSpPr>
          <p:cNvPr id="27" name="Rounded Rectangle 26"/>
          <p:cNvSpPr/>
          <p:nvPr/>
        </p:nvSpPr>
        <p:spPr>
          <a:xfrm>
            <a:off x="4617720" y="3794760"/>
            <a:ext cx="2651760" cy="2606040"/>
          </a:xfrm>
          <a:prstGeom prst="roundRect">
            <a:avLst>
              <a:gd name="adj" fmla="val 8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4727448" y="3904487"/>
            <a:ext cx="2432304" cy="2377440"/>
          </a:xfrm>
          <a:prstGeom prst="roundRect">
            <a:avLst>
              <a:gd name="adj" fmla="val 6000"/>
            </a:avLst>
          </a:prstGeom>
          <a:solidFill>
            <a:srgbClr val="191F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855464" y="4041648"/>
            <a:ext cx="1152144" cy="292608"/>
          </a:xfrm>
          <a:prstGeom prst="roundRect">
            <a:avLst>
              <a:gd name="adj" fmla="val 50000"/>
            </a:avLst>
          </a:prstGeom>
          <a:solidFill>
            <a:srgbClr val="F6E2DF"/>
          </a:solidFill>
          <a:ln>
            <a:noFill/>
          </a:ln>
          <a:effectLst/>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900" b="1">
                <a:solidFill>
                  <a:srgbClr val="A83C3C"/>
                </a:solidFill>
                <a:latin typeface="Calibri"/>
              </a:rPr>
              <a:t>Referred</a:t>
            </a:r>
          </a:p>
        </p:txBody>
      </p:sp>
      <p:sp>
        <p:nvSpPr>
          <p:cNvPr id="30" name="TextBox 29"/>
          <p:cNvSpPr txBox="1"/>
          <p:nvPr/>
        </p:nvSpPr>
        <p:spPr>
          <a:xfrm>
            <a:off x="4855464" y="4453128"/>
            <a:ext cx="2194560" cy="457200"/>
          </a:xfrm>
          <a:prstGeom prst="rect">
            <a:avLst/>
          </a:prstGeom>
          <a:noFill/>
        </p:spPr>
        <p:txBody>
          <a:bodyPr wrap="square" lIns="0" tIns="0" rIns="0" bIns="0" anchor="t">
            <a:spAutoFit/>
          </a:bodyPr>
          <a:lstStyle/>
          <a:p>
            <a:pPr algn="l">
              <a:lnSpc>
                <a:spcPct val="120000"/>
              </a:lnSpc>
            </a:pPr>
            <a:r>
              <a:rPr sz="950" b="0" i="0">
                <a:solidFill>
                  <a:srgbClr val="8B95A1"/>
                </a:solidFill>
                <a:latin typeface="Calibri"/>
              </a:rPr>
              <a:t>Outside informal mandate</a:t>
            </a:r>
          </a:p>
        </p:txBody>
      </p:sp>
      <p:sp>
        <p:nvSpPr>
          <p:cNvPr id="31" name="TextBox 30"/>
          <p:cNvSpPr txBox="1"/>
          <p:nvPr/>
        </p:nvSpPr>
        <p:spPr>
          <a:xfrm>
            <a:off x="4855464" y="4837176"/>
            <a:ext cx="2194560" cy="914400"/>
          </a:xfrm>
          <a:prstGeom prst="rect">
            <a:avLst/>
          </a:prstGeom>
          <a:noFill/>
        </p:spPr>
        <p:txBody>
          <a:bodyPr wrap="square" lIns="0" tIns="0" rIns="0" bIns="0" anchor="t">
            <a:spAutoFit/>
          </a:bodyPr>
          <a:lstStyle/>
          <a:p>
            <a:pPr algn="l">
              <a:lnSpc>
                <a:spcPct val="130000"/>
              </a:lnSpc>
            </a:pPr>
            <a:r>
              <a:rPr sz="950" b="0" i="0">
                <a:solidFill>
                  <a:srgbClr val="ECEEF0"/>
                </a:solidFill>
                <a:latin typeface="Calibri"/>
              </a:rPr>
              <a:t>This case involves an alleged threat of violence. Refer to the formal channel below.</a:t>
            </a:r>
          </a:p>
        </p:txBody>
      </p:sp>
      <p:sp>
        <p:nvSpPr>
          <p:cNvPr id="32" name="Rounded Rectangle 31"/>
          <p:cNvSpPr/>
          <p:nvPr/>
        </p:nvSpPr>
        <p:spPr>
          <a:xfrm>
            <a:off x="7498080" y="3794760"/>
            <a:ext cx="2651760" cy="2606040"/>
          </a:xfrm>
          <a:prstGeom prst="roundRect">
            <a:avLst>
              <a:gd name="adj" fmla="val 8000"/>
            </a:avLst>
          </a:prstGeom>
          <a:solidFill>
            <a:srgbClr val="1418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7607808" y="3904487"/>
            <a:ext cx="2432304" cy="2377440"/>
          </a:xfrm>
          <a:prstGeom prst="roundRect">
            <a:avLst>
              <a:gd name="adj" fmla="val 6000"/>
            </a:avLst>
          </a:prstGeom>
          <a:solidFill>
            <a:srgbClr val="191F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735824" y="4041648"/>
            <a:ext cx="2194560" cy="274320"/>
          </a:xfrm>
          <a:prstGeom prst="rect">
            <a:avLst/>
          </a:prstGeom>
          <a:noFill/>
        </p:spPr>
        <p:txBody>
          <a:bodyPr wrap="square" lIns="0" tIns="0" rIns="0" bIns="0" anchor="t">
            <a:spAutoFit/>
          </a:bodyPr>
          <a:lstStyle/>
          <a:p>
            <a:pPr algn="l">
              <a:lnSpc>
                <a:spcPct val="115000"/>
              </a:lnSpc>
            </a:pPr>
            <a:r>
              <a:rPr sz="1200" b="1" i="0">
                <a:solidFill>
                  <a:srgbClr val="FFFFFF"/>
                </a:solidFill>
                <a:latin typeface="Calibri"/>
              </a:rPr>
              <a:t>Guidance</a:t>
            </a:r>
          </a:p>
        </p:txBody>
      </p:sp>
      <p:sp>
        <p:nvSpPr>
          <p:cNvPr id="35" name="TextBox 34"/>
          <p:cNvSpPr txBox="1"/>
          <p:nvPr/>
        </p:nvSpPr>
        <p:spPr>
          <a:xfrm>
            <a:off x="7735824" y="4407408"/>
            <a:ext cx="2194560" cy="914400"/>
          </a:xfrm>
          <a:prstGeom prst="rect">
            <a:avLst/>
          </a:prstGeom>
          <a:noFill/>
        </p:spPr>
        <p:txBody>
          <a:bodyPr wrap="square" lIns="0" tIns="0" rIns="0" bIns="0" anchor="t">
            <a:spAutoFit/>
          </a:bodyPr>
          <a:lstStyle/>
          <a:p>
            <a:pPr algn="l">
              <a:lnSpc>
                <a:spcPct val="130000"/>
              </a:lnSpc>
            </a:pPr>
            <a:r>
              <a:rPr sz="950" b="0" i="0">
                <a:solidFill>
                  <a:srgbClr val="ECEEF0"/>
                </a:solidFill>
                <a:latin typeface="Calibri"/>
              </a:rPr>
              <a:t>Boundary disputes should be resolved with reference to the original survey where one exists.</a:t>
            </a:r>
          </a:p>
        </p:txBody>
      </p:sp>
      <p:sp>
        <p:nvSpPr>
          <p:cNvPr id="36" name="TextBox 35"/>
          <p:cNvSpPr txBox="1"/>
          <p:nvPr/>
        </p:nvSpPr>
        <p:spPr>
          <a:xfrm>
            <a:off x="7735824" y="5989320"/>
            <a:ext cx="2194560" cy="274320"/>
          </a:xfrm>
          <a:prstGeom prst="rect">
            <a:avLst/>
          </a:prstGeom>
          <a:noFill/>
        </p:spPr>
        <p:txBody>
          <a:bodyPr wrap="square" lIns="0" tIns="0" rIns="0" bIns="0" anchor="t">
            <a:spAutoFit/>
          </a:bodyPr>
          <a:lstStyle/>
          <a:p>
            <a:pPr algn="l">
              <a:lnSpc>
                <a:spcPct val="115000"/>
              </a:lnSpc>
            </a:pPr>
            <a:r>
              <a:rPr sz="850" b="0" i="0">
                <a:solidFill>
                  <a:srgbClr val="E0B44A"/>
                </a:solidFill>
                <a:latin typeface="Calibri"/>
              </a:rPr>
              <a:t>Source: Nigeria Land Use Act, S. 15</a:t>
            </a:r>
          </a:p>
        </p:txBody>
      </p:sp>
      <p:sp>
        <p:nvSpPr>
          <p:cNvPr id="37" name="TextBox 36"/>
          <p:cNvSpPr txBox="1"/>
          <p:nvPr/>
        </p:nvSpPr>
        <p:spPr>
          <a:xfrm>
            <a:off x="11475720" y="6510528"/>
            <a:ext cx="548640" cy="274320"/>
          </a:xfrm>
          <a:prstGeom prst="rect">
            <a:avLst/>
          </a:prstGeom>
          <a:noFill/>
        </p:spPr>
        <p:txBody>
          <a:bodyPr wrap="square" lIns="0" tIns="0" rIns="0" bIns="0" anchor="t">
            <a:spAutoFit/>
          </a:bodyPr>
          <a:lstStyle/>
          <a:p>
            <a:pPr algn="r">
              <a:lnSpc>
                <a:spcPct val="115000"/>
              </a:lnSpc>
            </a:pPr>
            <a:r>
              <a:rPr sz="900" b="0" i="0">
                <a:solidFill>
                  <a:srgbClr val="5C665E"/>
                </a:solidFill>
                <a:latin typeface="Calibri"/>
              </a:rPr>
              <a:t>05/10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8229600" cy="220701"/>
          </a:xfrm>
          <a:prstGeom prst="rect">
            <a:avLst/>
          </a:prstGeom>
          <a:noFill/>
        </p:spPr>
        <p:txBody>
          <a:bodyPr wrap="square" lIns="0" tIns="0" rIns="0" bIns="0" anchor="t">
            <a:spAutoFit/>
          </a:bodyPr>
          <a:lstStyle/>
          <a:p>
            <a:pPr algn="l">
              <a:lnSpc>
                <a:spcPct val="130000"/>
              </a:lnSpc>
            </a:pPr>
            <a:r>
              <a:rPr sz="1200" b="1" dirty="0">
                <a:solidFill>
                  <a:srgbClr val="B1791F"/>
                </a:solidFill>
                <a:latin typeface="Calibri"/>
              </a:rPr>
              <a:t>TRUST AND ACCURACY</a:t>
            </a:r>
          </a:p>
        </p:txBody>
      </p:sp>
      <p:sp>
        <p:nvSpPr>
          <p:cNvPr id="4" name="TextBox 3"/>
          <p:cNvSpPr txBox="1"/>
          <p:nvPr/>
        </p:nvSpPr>
        <p:spPr>
          <a:xfrm>
            <a:off x="640080" y="868680"/>
            <a:ext cx="10789920" cy="452624"/>
          </a:xfrm>
          <a:prstGeom prst="rect">
            <a:avLst/>
          </a:prstGeom>
          <a:noFill/>
        </p:spPr>
        <p:txBody>
          <a:bodyPr wrap="square" lIns="0" tIns="0" rIns="0" bIns="0" anchor="t">
            <a:spAutoFit/>
          </a:bodyPr>
          <a:lstStyle/>
          <a:p>
            <a:pPr algn="l">
              <a:lnSpc>
                <a:spcPct val="105000"/>
              </a:lnSpc>
            </a:pPr>
            <a:r>
              <a:rPr sz="3000" b="0" i="0" dirty="0">
                <a:solidFill>
                  <a:srgbClr val="1A221D"/>
                </a:solidFill>
                <a:latin typeface="Georgia"/>
              </a:rPr>
              <a:t>The mediator </a:t>
            </a:r>
            <a:r>
              <a:rPr lang="en-US" sz="3000" b="0" i="0" dirty="0">
                <a:solidFill>
                  <a:srgbClr val="1A221D"/>
                </a:solidFill>
                <a:latin typeface="Georgia"/>
              </a:rPr>
              <a:t>i</a:t>
            </a:r>
            <a:r>
              <a:rPr lang="en-US" sz="3000" dirty="0">
                <a:solidFill>
                  <a:srgbClr val="1A221D"/>
                </a:solidFill>
                <a:latin typeface="Georgia"/>
              </a:rPr>
              <a:t>s always</a:t>
            </a:r>
            <a:r>
              <a:rPr sz="3000" b="0" i="0" dirty="0">
                <a:solidFill>
                  <a:srgbClr val="1A221D"/>
                </a:solidFill>
                <a:latin typeface="Georgia"/>
              </a:rPr>
              <a:t> the decision-maker.</a:t>
            </a:r>
          </a:p>
        </p:txBody>
      </p:sp>
      <p:sp>
        <p:nvSpPr>
          <p:cNvPr id="5" name="Oval 4"/>
          <p:cNvSpPr/>
          <p:nvPr/>
        </p:nvSpPr>
        <p:spPr>
          <a:xfrm>
            <a:off x="640080" y="2011680"/>
            <a:ext cx="411480" cy="411480"/>
          </a:xfrm>
          <a:prstGeom prst="ellipse">
            <a:avLst/>
          </a:prstGeom>
          <a:solidFill>
            <a:srgbClr val="E1F0E5"/>
          </a:solidFill>
          <a:ln>
            <a:noFill/>
          </a:ln>
          <a:effectLst/>
        </p:spPr>
        <p:style>
          <a:lnRef idx="1">
            <a:schemeClr val="accent1"/>
          </a:lnRef>
          <a:fillRef idx="3">
            <a:schemeClr val="accent1"/>
          </a:fillRef>
          <a:effectRef idx="2">
            <a:schemeClr val="accent1"/>
          </a:effectRef>
          <a:fontRef idx="minor">
            <a:schemeClr val="lt1"/>
          </a:fontRef>
        </p:style>
        <p:txBody>
          <a:bodyPr lIns="0" rtlCol="0" anchor="ctr"/>
          <a:lstStyle/>
          <a:p>
            <a:pPr algn="ctr"/>
            <a:r>
              <a:rPr sz="1600" b="1">
                <a:solidFill>
                  <a:srgbClr val="2F7A4F"/>
                </a:solidFill>
              </a:rPr>
              <a:t>✓</a:t>
            </a:r>
          </a:p>
        </p:txBody>
      </p:sp>
      <p:sp>
        <p:nvSpPr>
          <p:cNvPr id="6" name="TextBox 5"/>
          <p:cNvSpPr txBox="1"/>
          <p:nvPr/>
        </p:nvSpPr>
        <p:spPr>
          <a:xfrm>
            <a:off x="1280160" y="1993392"/>
            <a:ext cx="9601200" cy="616323"/>
          </a:xfrm>
          <a:prstGeom prst="rect">
            <a:avLst/>
          </a:prstGeom>
          <a:noFill/>
        </p:spPr>
        <p:txBody>
          <a:bodyPr wrap="square" lIns="0" tIns="0" rIns="0" bIns="0" anchor="t">
            <a:spAutoFit/>
          </a:bodyPr>
          <a:lstStyle/>
          <a:p>
            <a:pPr algn="l">
              <a:lnSpc>
                <a:spcPct val="140000"/>
              </a:lnSpc>
            </a:pPr>
            <a:r>
              <a:rPr sz="1500" b="0" i="0" dirty="0">
                <a:solidFill>
                  <a:srgbClr val="1A221D"/>
                </a:solidFill>
                <a:latin typeface="Calibri"/>
              </a:rPr>
              <a:t>AI suggestions are grounded only in cited statutes and policy text, never in general model knowledge. If nothing in the corpus is a close enough match, Baraza </a:t>
            </a:r>
            <a:r>
              <a:rPr lang="en-US" sz="1500" b="0" i="0" dirty="0">
                <a:solidFill>
                  <a:srgbClr val="1A221D"/>
                </a:solidFill>
                <a:latin typeface="Calibri"/>
              </a:rPr>
              <a:t>AI </a:t>
            </a:r>
            <a:r>
              <a:rPr sz="1500" b="0" i="0" dirty="0">
                <a:solidFill>
                  <a:srgbClr val="1A221D"/>
                </a:solidFill>
                <a:latin typeface="Calibri"/>
              </a:rPr>
              <a:t>says so </a:t>
            </a:r>
            <a:r>
              <a:rPr lang="en-US" sz="1500" b="0" i="0" dirty="0">
                <a:solidFill>
                  <a:srgbClr val="1A221D"/>
                </a:solidFill>
                <a:latin typeface="Calibri"/>
              </a:rPr>
              <a:t>without</a:t>
            </a:r>
            <a:r>
              <a:rPr sz="1500" b="0" i="0" dirty="0">
                <a:solidFill>
                  <a:srgbClr val="1A221D"/>
                </a:solidFill>
                <a:latin typeface="Calibri"/>
              </a:rPr>
              <a:t> guessing.</a:t>
            </a:r>
          </a:p>
        </p:txBody>
      </p:sp>
      <p:sp>
        <p:nvSpPr>
          <p:cNvPr id="7" name="Oval 6"/>
          <p:cNvSpPr/>
          <p:nvPr/>
        </p:nvSpPr>
        <p:spPr>
          <a:xfrm>
            <a:off x="640080" y="3246120"/>
            <a:ext cx="411480" cy="411480"/>
          </a:xfrm>
          <a:prstGeom prst="ellipse">
            <a:avLst/>
          </a:prstGeom>
          <a:solidFill>
            <a:srgbClr val="E1F0E5"/>
          </a:solidFill>
          <a:ln>
            <a:noFill/>
          </a:ln>
          <a:effectLst/>
        </p:spPr>
        <p:style>
          <a:lnRef idx="1">
            <a:schemeClr val="accent1"/>
          </a:lnRef>
          <a:fillRef idx="3">
            <a:schemeClr val="accent1"/>
          </a:fillRef>
          <a:effectRef idx="2">
            <a:schemeClr val="accent1"/>
          </a:effectRef>
          <a:fontRef idx="minor">
            <a:schemeClr val="lt1"/>
          </a:fontRef>
        </p:style>
        <p:txBody>
          <a:bodyPr lIns="0" rtlCol="0" anchor="ctr"/>
          <a:lstStyle/>
          <a:p>
            <a:pPr algn="ctr"/>
            <a:r>
              <a:rPr sz="1600" b="1">
                <a:solidFill>
                  <a:srgbClr val="2F7A4F"/>
                </a:solidFill>
              </a:rPr>
              <a:t>✓</a:t>
            </a:r>
          </a:p>
        </p:txBody>
      </p:sp>
      <p:sp>
        <p:nvSpPr>
          <p:cNvPr id="8" name="TextBox 7"/>
          <p:cNvSpPr txBox="1"/>
          <p:nvPr/>
        </p:nvSpPr>
        <p:spPr>
          <a:xfrm>
            <a:off x="1280160" y="3227832"/>
            <a:ext cx="9601200" cy="1005840"/>
          </a:xfrm>
          <a:prstGeom prst="rect">
            <a:avLst/>
          </a:prstGeom>
          <a:noFill/>
        </p:spPr>
        <p:txBody>
          <a:bodyPr wrap="square" lIns="0" tIns="0" rIns="0" bIns="0" anchor="t">
            <a:spAutoFit/>
          </a:bodyPr>
          <a:lstStyle/>
          <a:p>
            <a:pPr algn="l">
              <a:lnSpc>
                <a:spcPct val="140000"/>
              </a:lnSpc>
            </a:pPr>
            <a:r>
              <a:rPr sz="1500" b="0" i="0" dirty="0">
                <a:solidFill>
                  <a:srgbClr val="1A221D"/>
                </a:solidFill>
                <a:latin typeface="Calibri"/>
              </a:rPr>
              <a:t>Every suggested guidance has its source, so a mediator can verify it directly rather than take the summary on faith.</a:t>
            </a:r>
          </a:p>
        </p:txBody>
      </p:sp>
      <p:sp>
        <p:nvSpPr>
          <p:cNvPr id="9" name="Oval 8"/>
          <p:cNvSpPr/>
          <p:nvPr/>
        </p:nvSpPr>
        <p:spPr>
          <a:xfrm>
            <a:off x="640080" y="4480560"/>
            <a:ext cx="411480" cy="411480"/>
          </a:xfrm>
          <a:prstGeom prst="ellipse">
            <a:avLst/>
          </a:prstGeom>
          <a:solidFill>
            <a:srgbClr val="E1F0E5"/>
          </a:solidFill>
          <a:ln>
            <a:noFill/>
          </a:ln>
          <a:effectLst/>
        </p:spPr>
        <p:style>
          <a:lnRef idx="1">
            <a:schemeClr val="accent1"/>
          </a:lnRef>
          <a:fillRef idx="3">
            <a:schemeClr val="accent1"/>
          </a:fillRef>
          <a:effectRef idx="2">
            <a:schemeClr val="accent1"/>
          </a:effectRef>
          <a:fontRef idx="minor">
            <a:schemeClr val="lt1"/>
          </a:fontRef>
        </p:style>
        <p:txBody>
          <a:bodyPr lIns="0" rtlCol="0" anchor="ctr"/>
          <a:lstStyle/>
          <a:p>
            <a:pPr algn="ctr"/>
            <a:r>
              <a:rPr sz="1600" b="1">
                <a:solidFill>
                  <a:srgbClr val="2F7A4F"/>
                </a:solidFill>
              </a:rPr>
              <a:t>✓</a:t>
            </a:r>
          </a:p>
        </p:txBody>
      </p:sp>
      <p:sp>
        <p:nvSpPr>
          <p:cNvPr id="10" name="TextBox 9"/>
          <p:cNvSpPr txBox="1"/>
          <p:nvPr/>
        </p:nvSpPr>
        <p:spPr>
          <a:xfrm>
            <a:off x="1280160" y="4462272"/>
            <a:ext cx="9601200" cy="293157"/>
          </a:xfrm>
          <a:prstGeom prst="rect">
            <a:avLst/>
          </a:prstGeom>
          <a:noFill/>
        </p:spPr>
        <p:txBody>
          <a:bodyPr wrap="square" lIns="0" tIns="0" rIns="0" bIns="0" anchor="t">
            <a:spAutoFit/>
          </a:bodyPr>
          <a:lstStyle/>
          <a:p>
            <a:pPr algn="l">
              <a:lnSpc>
                <a:spcPct val="140000"/>
              </a:lnSpc>
            </a:pPr>
            <a:r>
              <a:rPr sz="1500" b="0" i="0" dirty="0">
                <a:solidFill>
                  <a:srgbClr val="1A221D"/>
                </a:solidFill>
                <a:latin typeface="Calibri"/>
              </a:rPr>
              <a:t>Referral logic runs on a plain, editable list of categories, so an institution can inspect and adjust exactly what triggers a flag.</a:t>
            </a:r>
          </a:p>
        </p:txBody>
      </p:sp>
      <p:sp>
        <p:nvSpPr>
          <p:cNvPr id="11" name="TextBox 10"/>
          <p:cNvSpPr txBox="1"/>
          <p:nvPr/>
        </p:nvSpPr>
        <p:spPr>
          <a:xfrm>
            <a:off x="11475720" y="6510528"/>
            <a:ext cx="548640" cy="274320"/>
          </a:xfrm>
          <a:prstGeom prst="rect">
            <a:avLst/>
          </a:prstGeom>
          <a:noFill/>
        </p:spPr>
        <p:txBody>
          <a:bodyPr wrap="square" lIns="0" tIns="0" rIns="0" bIns="0" anchor="t">
            <a:spAutoFit/>
          </a:bodyPr>
          <a:lstStyle/>
          <a:p>
            <a:pPr algn="r">
              <a:lnSpc>
                <a:spcPct val="115000"/>
              </a:lnSpc>
            </a:pPr>
            <a:r>
              <a:rPr sz="900" b="0" i="0">
                <a:solidFill>
                  <a:srgbClr val="5C665E"/>
                </a:solidFill>
                <a:latin typeface="Calibri"/>
              </a:rPr>
              <a:t>06/10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57200"/>
            <a:ext cx="8229600" cy="220701"/>
          </a:xfrm>
          <a:prstGeom prst="rect">
            <a:avLst/>
          </a:prstGeom>
          <a:noFill/>
        </p:spPr>
        <p:txBody>
          <a:bodyPr wrap="square" lIns="0" tIns="0" rIns="0" bIns="0" anchor="t">
            <a:spAutoFit/>
          </a:bodyPr>
          <a:lstStyle/>
          <a:p>
            <a:pPr algn="l">
              <a:lnSpc>
                <a:spcPct val="130000"/>
              </a:lnSpc>
            </a:pPr>
            <a:r>
              <a:rPr sz="1200" b="1" dirty="0">
                <a:solidFill>
                  <a:srgbClr val="B1791F"/>
                </a:solidFill>
                <a:latin typeface="Calibri"/>
              </a:rPr>
              <a:t>WHO IT’S FOR</a:t>
            </a:r>
          </a:p>
        </p:txBody>
      </p:sp>
      <p:sp>
        <p:nvSpPr>
          <p:cNvPr id="4" name="TextBox 3"/>
          <p:cNvSpPr txBox="1"/>
          <p:nvPr/>
        </p:nvSpPr>
        <p:spPr>
          <a:xfrm>
            <a:off x="640080" y="868680"/>
            <a:ext cx="10789920" cy="452624"/>
          </a:xfrm>
          <a:prstGeom prst="rect">
            <a:avLst/>
          </a:prstGeom>
          <a:noFill/>
        </p:spPr>
        <p:txBody>
          <a:bodyPr wrap="square" lIns="0" tIns="0" rIns="0" bIns="0" anchor="t">
            <a:spAutoFit/>
          </a:bodyPr>
          <a:lstStyle/>
          <a:p>
            <a:pPr algn="l">
              <a:lnSpc>
                <a:spcPct val="105000"/>
              </a:lnSpc>
            </a:pPr>
            <a:r>
              <a:rPr lang="en-US" sz="3000" b="0" i="0" dirty="0">
                <a:solidFill>
                  <a:srgbClr val="1A221D"/>
                </a:solidFill>
                <a:latin typeface="Georgia"/>
              </a:rPr>
              <a:t>Baraza serves both the mediator and the Institution</a:t>
            </a:r>
            <a:endParaRPr sz="3000" b="0" i="0" dirty="0">
              <a:solidFill>
                <a:srgbClr val="1A221D"/>
              </a:solidFill>
              <a:latin typeface="Georgia"/>
            </a:endParaRPr>
          </a:p>
        </p:txBody>
      </p:sp>
      <p:sp>
        <p:nvSpPr>
          <p:cNvPr id="5" name="Rounded Rectangle 4"/>
          <p:cNvSpPr/>
          <p:nvPr/>
        </p:nvSpPr>
        <p:spPr>
          <a:xfrm>
            <a:off x="640080" y="2011680"/>
            <a:ext cx="5120640" cy="4114800"/>
          </a:xfrm>
          <a:prstGeom prst="roundRect">
            <a:avLst>
              <a:gd name="adj" fmla="val 12000"/>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286000"/>
            <a:ext cx="4572000" cy="274320"/>
          </a:xfrm>
          <a:prstGeom prst="rect">
            <a:avLst/>
          </a:prstGeom>
          <a:noFill/>
        </p:spPr>
        <p:txBody>
          <a:bodyPr wrap="square" lIns="0" tIns="0" rIns="0" bIns="0" anchor="t">
            <a:spAutoFit/>
          </a:bodyPr>
          <a:lstStyle/>
          <a:p>
            <a:pPr algn="l">
              <a:lnSpc>
                <a:spcPct val="115000"/>
              </a:lnSpc>
            </a:pPr>
            <a:r>
              <a:rPr sz="1100" b="1" i="0">
                <a:solidFill>
                  <a:srgbClr val="B9C3DD"/>
                </a:solidFill>
                <a:latin typeface="Calibri"/>
              </a:rPr>
              <a:t>DIRECT USER</a:t>
            </a:r>
          </a:p>
        </p:txBody>
      </p:sp>
      <p:sp>
        <p:nvSpPr>
          <p:cNvPr id="7" name="TextBox 6"/>
          <p:cNvSpPr txBox="1"/>
          <p:nvPr/>
        </p:nvSpPr>
        <p:spPr>
          <a:xfrm>
            <a:off x="914400" y="2606040"/>
            <a:ext cx="4572000" cy="548640"/>
          </a:xfrm>
          <a:prstGeom prst="rect">
            <a:avLst/>
          </a:prstGeom>
          <a:noFill/>
        </p:spPr>
        <p:txBody>
          <a:bodyPr wrap="square" lIns="0" tIns="0" rIns="0" bIns="0" anchor="t">
            <a:spAutoFit/>
          </a:bodyPr>
          <a:lstStyle/>
          <a:p>
            <a:pPr algn="l">
              <a:lnSpc>
                <a:spcPct val="115000"/>
              </a:lnSpc>
            </a:pPr>
            <a:r>
              <a:rPr sz="2400" b="0" i="0">
                <a:solidFill>
                  <a:srgbClr val="FFFFFF"/>
                </a:solidFill>
                <a:latin typeface="Georgia"/>
              </a:rPr>
              <a:t>The mediator</a:t>
            </a:r>
          </a:p>
        </p:txBody>
      </p:sp>
      <p:sp>
        <p:nvSpPr>
          <p:cNvPr id="8" name="TextBox 7"/>
          <p:cNvSpPr txBox="1"/>
          <p:nvPr/>
        </p:nvSpPr>
        <p:spPr>
          <a:xfrm>
            <a:off x="914400" y="3200400"/>
            <a:ext cx="4572000" cy="2651760"/>
          </a:xfrm>
          <a:prstGeom prst="rect">
            <a:avLst/>
          </a:prstGeom>
          <a:noFill/>
        </p:spPr>
        <p:txBody>
          <a:bodyPr wrap="square" lIns="0" tIns="0" rIns="0" bIns="0" anchor="t">
            <a:spAutoFit/>
          </a:bodyPr>
          <a:lstStyle/>
          <a:p>
            <a:pPr algn="l">
              <a:lnSpc>
                <a:spcPct val="145000"/>
              </a:lnSpc>
            </a:pPr>
            <a:r>
              <a:rPr sz="1300" b="0" i="0">
                <a:solidFill>
                  <a:srgbClr val="D6DBE8"/>
                </a:solidFill>
                <a:latin typeface="Calibri"/>
              </a:rPr>
              <a:t>A chief, elder, or trained community mediator, already trusted by the people who bring cases to them. No new device requirement beyond the one they use for the app; no change to how they already handle a case.</a:t>
            </a:r>
          </a:p>
        </p:txBody>
      </p:sp>
      <p:sp>
        <p:nvSpPr>
          <p:cNvPr id="9" name="Rounded Rectangle 8"/>
          <p:cNvSpPr/>
          <p:nvPr/>
        </p:nvSpPr>
        <p:spPr>
          <a:xfrm>
            <a:off x="5989320" y="2011680"/>
            <a:ext cx="5577840" cy="4114800"/>
          </a:xfrm>
          <a:prstGeom prst="roundRect">
            <a:avLst>
              <a:gd name="adj" fmla="val 12000"/>
            </a:avLst>
          </a:prstGeom>
          <a:solidFill>
            <a:srgbClr val="FFFFFF"/>
          </a:solidFill>
          <a:ln w="9525">
            <a:solidFill>
              <a:srgbClr val="D9DB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63640" y="2286000"/>
            <a:ext cx="5029200" cy="274320"/>
          </a:xfrm>
          <a:prstGeom prst="rect">
            <a:avLst/>
          </a:prstGeom>
          <a:noFill/>
        </p:spPr>
        <p:txBody>
          <a:bodyPr wrap="square" lIns="0" tIns="0" rIns="0" bIns="0" anchor="t">
            <a:spAutoFit/>
          </a:bodyPr>
          <a:lstStyle/>
          <a:p>
            <a:pPr algn="l">
              <a:lnSpc>
                <a:spcPct val="115000"/>
              </a:lnSpc>
            </a:pPr>
            <a:r>
              <a:rPr sz="1100" b="1" i="0">
                <a:solidFill>
                  <a:srgbClr val="5C665E"/>
                </a:solidFill>
                <a:latin typeface="Calibri"/>
              </a:rPr>
              <a:t>ADOPTING INSTITUTION</a:t>
            </a:r>
          </a:p>
        </p:txBody>
      </p:sp>
      <p:sp>
        <p:nvSpPr>
          <p:cNvPr id="11" name="TextBox 10"/>
          <p:cNvSpPr txBox="1"/>
          <p:nvPr/>
        </p:nvSpPr>
        <p:spPr>
          <a:xfrm>
            <a:off x="6263640" y="2606040"/>
            <a:ext cx="5029200" cy="548640"/>
          </a:xfrm>
          <a:prstGeom prst="rect">
            <a:avLst/>
          </a:prstGeom>
          <a:noFill/>
        </p:spPr>
        <p:txBody>
          <a:bodyPr wrap="square" lIns="0" tIns="0" rIns="0" bIns="0" anchor="t">
            <a:spAutoFit/>
          </a:bodyPr>
          <a:lstStyle/>
          <a:p>
            <a:pPr algn="l">
              <a:lnSpc>
                <a:spcPct val="115000"/>
              </a:lnSpc>
            </a:pPr>
            <a:r>
              <a:rPr sz="2400" b="0" i="0">
                <a:solidFill>
                  <a:srgbClr val="1A221D"/>
                </a:solidFill>
                <a:latin typeface="Georgia"/>
              </a:rPr>
              <a:t>Who oversees them</a:t>
            </a:r>
          </a:p>
        </p:txBody>
      </p:sp>
      <p:sp>
        <p:nvSpPr>
          <p:cNvPr id="12" name="TextBox 11"/>
          <p:cNvSpPr txBox="1"/>
          <p:nvPr/>
        </p:nvSpPr>
        <p:spPr>
          <a:xfrm>
            <a:off x="6263640" y="3200400"/>
            <a:ext cx="5029200" cy="640080"/>
          </a:xfrm>
          <a:prstGeom prst="rect">
            <a:avLst/>
          </a:prstGeom>
          <a:noFill/>
        </p:spPr>
        <p:txBody>
          <a:bodyPr wrap="square" lIns="0" tIns="0" rIns="0" bIns="0" anchor="t">
            <a:spAutoFit/>
          </a:bodyPr>
          <a:lstStyle/>
          <a:p>
            <a:pPr algn="l">
              <a:lnSpc>
                <a:spcPct val="140000"/>
              </a:lnSpc>
            </a:pPr>
            <a:r>
              <a:rPr sz="1300" b="0" i="0">
                <a:solidFill>
                  <a:srgbClr val="5C665E"/>
                </a:solidFill>
                <a:latin typeface="Calibri"/>
              </a:rPr>
              <a:t>The bodies that train, fund, and are ultimately accountable for this work.</a:t>
            </a:r>
          </a:p>
        </p:txBody>
      </p:sp>
      <p:sp>
        <p:nvSpPr>
          <p:cNvPr id="13" name="TextBox 12"/>
          <p:cNvSpPr txBox="1"/>
          <p:nvPr/>
        </p:nvSpPr>
        <p:spPr>
          <a:xfrm>
            <a:off x="6263640" y="3931920"/>
            <a:ext cx="5029200" cy="502920"/>
          </a:xfrm>
          <a:prstGeom prst="rect">
            <a:avLst/>
          </a:prstGeom>
          <a:noFill/>
        </p:spPr>
        <p:txBody>
          <a:bodyPr wrap="square" lIns="0" tIns="0" rIns="0" bIns="0" anchor="t">
            <a:spAutoFit/>
          </a:bodyPr>
          <a:lstStyle/>
          <a:p>
            <a:pPr algn="l">
              <a:lnSpc>
                <a:spcPct val="130000"/>
              </a:lnSpc>
            </a:pPr>
            <a:r>
              <a:rPr sz="1300" b="1">
                <a:solidFill>
                  <a:srgbClr val="B1791F"/>
                </a:solidFill>
                <a:latin typeface="Calibri"/>
              </a:rPr>
              <a:t>·  </a:t>
            </a:r>
            <a:r>
              <a:rPr sz="1250" b="0">
                <a:solidFill>
                  <a:srgbClr val="1A221D"/>
                </a:solidFill>
                <a:latin typeface="Calibri"/>
              </a:rPr>
              <a:t>State Ministries of Justice and their ADR desks, e.g. Lagos State’s Citizens’ Mediation Bureau</a:t>
            </a:r>
          </a:p>
        </p:txBody>
      </p:sp>
      <p:sp>
        <p:nvSpPr>
          <p:cNvPr id="14" name="TextBox 13"/>
          <p:cNvSpPr txBox="1"/>
          <p:nvPr/>
        </p:nvSpPr>
        <p:spPr>
          <a:xfrm>
            <a:off x="6263640" y="4498848"/>
            <a:ext cx="5029200" cy="502920"/>
          </a:xfrm>
          <a:prstGeom prst="rect">
            <a:avLst/>
          </a:prstGeom>
          <a:noFill/>
        </p:spPr>
        <p:txBody>
          <a:bodyPr wrap="square" lIns="0" tIns="0" rIns="0" bIns="0" anchor="t">
            <a:spAutoFit/>
          </a:bodyPr>
          <a:lstStyle/>
          <a:p>
            <a:pPr algn="l">
              <a:lnSpc>
                <a:spcPct val="130000"/>
              </a:lnSpc>
            </a:pPr>
            <a:r>
              <a:rPr sz="1300" b="1">
                <a:solidFill>
                  <a:srgbClr val="B1791F"/>
                </a:solidFill>
                <a:latin typeface="Calibri"/>
              </a:rPr>
              <a:t>·  </a:t>
            </a:r>
            <a:r>
              <a:rPr sz="1250" b="0">
                <a:solidFill>
                  <a:srgbClr val="1A221D"/>
                </a:solidFill>
                <a:latin typeface="Calibri"/>
              </a:rPr>
              <a:t>WANEP-Nigeria</a:t>
            </a:r>
          </a:p>
        </p:txBody>
      </p:sp>
      <p:sp>
        <p:nvSpPr>
          <p:cNvPr id="15" name="TextBox 14"/>
          <p:cNvSpPr txBox="1"/>
          <p:nvPr/>
        </p:nvSpPr>
        <p:spPr>
          <a:xfrm>
            <a:off x="6263640" y="5065776"/>
            <a:ext cx="5029200" cy="502920"/>
          </a:xfrm>
          <a:prstGeom prst="rect">
            <a:avLst/>
          </a:prstGeom>
          <a:noFill/>
        </p:spPr>
        <p:txBody>
          <a:bodyPr wrap="square" lIns="0" tIns="0" rIns="0" bIns="0" anchor="t">
            <a:spAutoFit/>
          </a:bodyPr>
          <a:lstStyle/>
          <a:p>
            <a:pPr algn="l">
              <a:lnSpc>
                <a:spcPct val="130000"/>
              </a:lnSpc>
            </a:pPr>
            <a:r>
              <a:rPr sz="1300" b="1">
                <a:solidFill>
                  <a:srgbClr val="B1791F"/>
                </a:solidFill>
                <a:latin typeface="Calibri"/>
              </a:rPr>
              <a:t>·  </a:t>
            </a:r>
            <a:r>
              <a:rPr sz="1250" b="0">
                <a:solidFill>
                  <a:srgbClr val="1A221D"/>
                </a:solidFill>
                <a:latin typeface="Calibri"/>
              </a:rPr>
              <a:t>NGOs running programs like CIPP</a:t>
            </a:r>
          </a:p>
        </p:txBody>
      </p:sp>
      <p:sp>
        <p:nvSpPr>
          <p:cNvPr id="16" name="TextBox 15"/>
          <p:cNvSpPr txBox="1"/>
          <p:nvPr/>
        </p:nvSpPr>
        <p:spPr>
          <a:xfrm>
            <a:off x="11475720" y="6510528"/>
            <a:ext cx="548640" cy="274320"/>
          </a:xfrm>
          <a:prstGeom prst="rect">
            <a:avLst/>
          </a:prstGeom>
          <a:noFill/>
        </p:spPr>
        <p:txBody>
          <a:bodyPr wrap="square" lIns="0" tIns="0" rIns="0" bIns="0" anchor="t">
            <a:spAutoFit/>
          </a:bodyPr>
          <a:lstStyle/>
          <a:p>
            <a:pPr algn="r">
              <a:lnSpc>
                <a:spcPct val="115000"/>
              </a:lnSpc>
            </a:pPr>
            <a:r>
              <a:rPr sz="900" b="0" i="0">
                <a:solidFill>
                  <a:srgbClr val="5C665E"/>
                </a:solidFill>
                <a:latin typeface="Calibri"/>
              </a:rPr>
              <a:t>07/10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E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463040"/>
            <a:ext cx="5486400" cy="320040"/>
          </a:xfrm>
          <a:prstGeom prst="rect">
            <a:avLst/>
          </a:prstGeom>
          <a:noFill/>
        </p:spPr>
        <p:txBody>
          <a:bodyPr wrap="square" lIns="0" tIns="0" rIns="0" bIns="0" anchor="t">
            <a:spAutoFit/>
          </a:bodyPr>
          <a:lstStyle/>
          <a:p>
            <a:pPr algn="l">
              <a:lnSpc>
                <a:spcPct val="115000"/>
              </a:lnSpc>
            </a:pPr>
            <a:r>
              <a:rPr sz="1250" b="1" i="0">
                <a:solidFill>
                  <a:srgbClr val="E0B44A"/>
                </a:solidFill>
                <a:latin typeface="Calibri"/>
              </a:rPr>
              <a:t>THANK YOU</a:t>
            </a:r>
          </a:p>
        </p:txBody>
      </p:sp>
      <p:sp>
        <p:nvSpPr>
          <p:cNvPr id="4" name="TextBox 3"/>
          <p:cNvSpPr txBox="1"/>
          <p:nvPr/>
        </p:nvSpPr>
        <p:spPr>
          <a:xfrm>
            <a:off x="594360" y="1874519"/>
            <a:ext cx="9144000" cy="1188720"/>
          </a:xfrm>
          <a:prstGeom prst="rect">
            <a:avLst/>
          </a:prstGeom>
          <a:noFill/>
        </p:spPr>
        <p:txBody>
          <a:bodyPr wrap="square" lIns="0" tIns="0" rIns="0" bIns="0" anchor="t">
            <a:spAutoFit/>
          </a:bodyPr>
          <a:lstStyle/>
          <a:p>
            <a:pPr algn="l">
              <a:lnSpc>
                <a:spcPct val="115000"/>
              </a:lnSpc>
            </a:pPr>
            <a:r>
              <a:rPr sz="6400" b="0" i="0">
                <a:solidFill>
                  <a:srgbClr val="FFFFFF"/>
                </a:solidFill>
                <a:latin typeface="Georgia"/>
              </a:rPr>
              <a:t>Baraza</a:t>
            </a:r>
          </a:p>
        </p:txBody>
      </p:sp>
      <p:sp>
        <p:nvSpPr>
          <p:cNvPr id="5" name="TextBox 4"/>
          <p:cNvSpPr txBox="1"/>
          <p:nvPr/>
        </p:nvSpPr>
        <p:spPr>
          <a:xfrm>
            <a:off x="640080" y="3017520"/>
            <a:ext cx="7863840" cy="616323"/>
          </a:xfrm>
          <a:prstGeom prst="rect">
            <a:avLst/>
          </a:prstGeom>
          <a:noFill/>
        </p:spPr>
        <p:txBody>
          <a:bodyPr wrap="square" lIns="0" tIns="0" rIns="0" bIns="0" anchor="t">
            <a:spAutoFit/>
          </a:bodyPr>
          <a:lstStyle/>
          <a:p>
            <a:pPr algn="l">
              <a:lnSpc>
                <a:spcPct val="140000"/>
              </a:lnSpc>
            </a:pPr>
            <a:r>
              <a:rPr sz="1500" b="0" i="0" dirty="0">
                <a:solidFill>
                  <a:srgbClr val="C7CCD6"/>
                </a:solidFill>
                <a:latin typeface="Calibri"/>
              </a:rPr>
              <a:t>A shared record for </a:t>
            </a:r>
            <a:r>
              <a:rPr lang="en-US" sz="1500" dirty="0">
                <a:solidFill>
                  <a:srgbClr val="C7CCD6"/>
                </a:solidFill>
                <a:latin typeface="Calibri"/>
              </a:rPr>
              <a:t>Nigeria’s </a:t>
            </a:r>
            <a:r>
              <a:rPr sz="1500" b="0" i="0" dirty="0">
                <a:solidFill>
                  <a:srgbClr val="C7CCD6"/>
                </a:solidFill>
                <a:latin typeface="Calibri"/>
              </a:rPr>
              <a:t>justice system. Built for Nigeria’s community mediators, and for the institutions that stand behind them.</a:t>
            </a:r>
          </a:p>
        </p:txBody>
      </p:sp>
      <p:sp>
        <p:nvSpPr>
          <p:cNvPr id="6" name="Rounded Rectangle 5"/>
          <p:cNvSpPr/>
          <p:nvPr/>
        </p:nvSpPr>
        <p:spPr>
          <a:xfrm>
            <a:off x="640080" y="3977639"/>
            <a:ext cx="3154679" cy="384048"/>
          </a:xfrm>
          <a:prstGeom prst="roundRect">
            <a:avLst>
              <a:gd name="adj" fmla="val 50000"/>
            </a:avLst>
          </a:prstGeom>
          <a:solidFill>
            <a:srgbClr val="2A3658"/>
          </a:solidFill>
          <a:ln>
            <a:noFill/>
          </a:ln>
          <a:effectLst/>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50" b="0">
                <a:solidFill>
                  <a:srgbClr val="FFFFFF"/>
                </a:solidFill>
                <a:latin typeface="Calibri"/>
              </a:rPr>
              <a:t>Track: Stability &amp; Social Cohesion</a:t>
            </a:r>
          </a:p>
        </p:txBody>
      </p:sp>
      <p:sp>
        <p:nvSpPr>
          <p:cNvPr id="7" name="Rounded Rectangle 6"/>
          <p:cNvSpPr/>
          <p:nvPr/>
        </p:nvSpPr>
        <p:spPr>
          <a:xfrm>
            <a:off x="3959351" y="3977639"/>
            <a:ext cx="2674620" cy="384048"/>
          </a:xfrm>
          <a:prstGeom prst="roundRect">
            <a:avLst>
              <a:gd name="adj" fmla="val 50000"/>
            </a:avLst>
          </a:prstGeom>
          <a:solidFill>
            <a:srgbClr val="2A3658"/>
          </a:solidFill>
          <a:ln>
            <a:noFill/>
          </a:ln>
          <a:effectLst/>
        </p:spPr>
        <p:style>
          <a:lnRef idx="1">
            <a:schemeClr val="accent1"/>
          </a:lnRef>
          <a:fillRef idx="3">
            <a:schemeClr val="accent1"/>
          </a:fillRef>
          <a:effectRef idx="2">
            <a:schemeClr val="accent1"/>
          </a:effectRef>
          <a:fontRef idx="minor">
            <a:schemeClr val="lt1"/>
          </a:fontRef>
        </p:style>
        <p:txBody>
          <a:bodyPr wrap="none" lIns="50800" tIns="12700" rIns="50800" bIns="12700" rtlCol="0" anchor="ctr"/>
          <a:lstStyle/>
          <a:p>
            <a:pPr algn="ctr"/>
            <a:r>
              <a:rPr sz="1150" b="0">
                <a:solidFill>
                  <a:srgbClr val="FFFFFF"/>
                </a:solidFill>
                <a:latin typeface="Calibri"/>
              </a:rPr>
              <a:t>OSF x Andela Hackathon 2026</a:t>
            </a:r>
          </a:p>
        </p:txBody>
      </p:sp>
      <p:sp>
        <p:nvSpPr>
          <p:cNvPr id="8" name="Rounded Rectangle 7"/>
          <p:cNvSpPr/>
          <p:nvPr/>
        </p:nvSpPr>
        <p:spPr>
          <a:xfrm>
            <a:off x="640080" y="4709160"/>
            <a:ext cx="3291840" cy="502920"/>
          </a:xfrm>
          <a:prstGeom prst="roundRect">
            <a:avLst>
              <a:gd name="adj" fmla="val 50000"/>
            </a:avLst>
          </a:prstGeom>
          <a:solidFill>
            <a:srgbClr val="E0B44A"/>
          </a:solidFill>
          <a:ln>
            <a:noFill/>
          </a:ln>
          <a:effectLst/>
        </p:spPr>
        <p:style>
          <a:lnRef idx="1">
            <a:schemeClr val="accent1"/>
          </a:lnRef>
          <a:fillRef idx="3">
            <a:schemeClr val="accent1"/>
          </a:fillRef>
          <a:effectRef idx="2">
            <a:schemeClr val="accent1"/>
          </a:effectRef>
          <a:fontRef idx="minor">
            <a:schemeClr val="lt1"/>
          </a:fontRef>
        </p:style>
        <p:txBody>
          <a:bodyPr lIns="127000" rtlCol="0" anchor="ctr"/>
          <a:lstStyle/>
          <a:p>
            <a:pPr algn="ctr"/>
            <a:r>
              <a:rPr sz="1250" b="1">
                <a:solidFill>
                  <a:srgbClr val="1A1206"/>
                </a:solidFill>
                <a:latin typeface="Calibri"/>
              </a:rPr>
              <a:t>github.com/ebel-frank/Baraza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17</TotalTime>
  <Words>831</Words>
  <Application>Microsoft Office PowerPoint</Application>
  <PresentationFormat>Widescreen</PresentationFormat>
  <Paragraphs>106</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Frank Ebeledike</dc:creator>
  <cp:keywords/>
  <dc:description>generated using python-pptx</dc:description>
  <cp:lastModifiedBy>Frank Ebeledike</cp:lastModifiedBy>
  <cp:revision>2</cp:revision>
  <dcterms:created xsi:type="dcterms:W3CDTF">2013-01-27T09:14:16Z</dcterms:created>
  <dcterms:modified xsi:type="dcterms:W3CDTF">2026-09-21T22:50:03Z</dcterms:modified>
  <cp:category/>
</cp:coreProperties>
</file>